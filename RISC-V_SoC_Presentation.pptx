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674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builds an RV32I RISC-V System-on-Chip with a simplified hardware virtual-memory subsystem: an MMU, page table, TLB, and page-fault reporting. Two areas make up most of the engineering effort and are the heart of this presentation: the UVM verification environment, and the physical design flow that carries the RTL to a manufacturable SKY130 GDS-II layout using OpenROAD. Team: Noor-Ul-Aiin and Nabiha Fatima, USTP Digital IC Design and Verification program, Project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real processors (and OSes like Linux) give every program its own virtual address space, translated to physical memory by a hardware MMU. This project reproduces that mechanism in synthesizable hardware on an RV32I core, but deliberately simplified -- a single-level page table instead of a full multi-level SV32 walker, and no complete privileged architecture. The point isn't to build a production MMU; it's to demonstrate the same translation and fault-handling principles real hardware uses, in a design small enough to carry all the way through verification and physical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to mention out loud: (1) synthesizable RV32I core + simplified MMU/TLB, (2) CSR-based control via SATP/MSTATUS plus centralized exception handling, (3) AXI4-Lite debug interface and UART/GPIO peripherals, (4) two-pronged verification -- directed testbench and full UVM, (5) a complete RTL-to-GDS physical design flow plus a parallel FPGA build. On scope: the project keeps a single-level, 1024-entry page table and 4KB pages rather than the two-level SV32 walk, and does not implement full M/S/U privileged modes, an interrupt controller, or an OS -- this keeps the translation/TLB/fault mechanisms clear and demonstrable while still being small enough to reach a real physical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data flow: the RV32I core issues virtual addresses for both instruction fetch and data access. The MMU, backed by a TLB, resolves these to physical addresses before they reach instruction/data memory. The CSR unit holds translation and status state (SATP, MSTATUS); the exception handler arbitrates faults and interrupts. The top level also exposes an AXI4-Lite debug port and UART/GPIO pins. Key parameters to have ready if asked: 32-bit ISA with 32 registers (x0-x31); 4KB page size; 16-entry fully-associative TLB; 1024-entry single-level page table; 100 MHz target frequency; SkyWater SKY130 (130nm) as the target ASIC process; Digilent Arty A7-100T as the target FPGA.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is a multicycle, FSM-based RV32I implementation with a 32-entry register file, cycling through FETCH (issue PC to the MMU as a virtual address), EXECUTE (decode and run the ALU op), MEMORY (issue load/store addresses to the MMU), and WRITEBACK (commit to the register file). The key architectural point: every single fetch and load/store goes through the MMU as a virtual address -- never straight to memory. That core-to-MMU handshake (valid/ready plus a page-fault return path) is what makes the rest of the virtual-memory subsystem possible. The instruction set covers standard RV32I: arithmetic/immediate ops, loads/stores, control transfer (branches/jumps), and upper-immediate/system instructions including the CSR instructions and ECALL/EBREAK.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virtual address splits into a Virtual Page Number (VPN) and a page offset. The MMU indexes a single-level, 1024-entry page table with the VPN to find a Physical Page Number (PPN) plus permission flags. A 16-entry fully-associative TLB -- a CAM that compares all entries in parallel -- caches recent translations so most accesses complete in one cycle instead of paying for a full page-table lookup. Page table entries carry V/R/W/X (valid/read/write/execute), U/G (user-accessible/global), A/D (accessed/dirty), and the PPN itself. Worth noting if asked: G (global) entries are not flushed on an address-space switch, unlike ordinary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through the translation flow: the core issues a virtual address to the MMU for a fetch or data access. The MMU checks the TLB first -- on a hit, the physical address returns immediately, same cycle. On a miss, the MMU walks the page table and checks the PTE's valid bit and permissions; a valid, permitted access computes the physical address and installs it in the TLB, while an invalid or permission-violating access raises a page fault instead. Two details worth calling out: separate translation state machines handle the instruction and data paths independently, so a fetch and a load/store can be translating at the same time; and the TLB is flushed whenever SATP changes, since a new address space invalidates every previously cached translation.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 summary: the CSR unit holds SATP (the MMU's translation base register, which flushes the TLB whenever it's written), MSTATUS, and a cycle counter, all accessed via CSRRW/CSRRS/CSRRC. The exception handler merges core exceptions (illegal instruction, ECALL/EBREAK), MMU page faults, and external interrupts into a single trap decision -- cause, interrupt vs. exception, and target handler address -- using MSTATUS/MIE/MIP and MTVEC. On the bus side, an AXI4-Lite subordinate port (plus an AXI4 arbiter for multi-master use) exposes on-chip registers to an external host or debugger, while UART and GPIO pins support board-level demonstration. Instruction and data memory are kept as separate 4096-word single-port SRAMs in a Harvard-style split, and both are only ever accessed with the physical address the MMU produces -- never a virtual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rationale, in case you're asked why each was chosen: Yosys 0.62 performs synthesis, mapping the RTL to SKY130 standard cells. OpenROAD handles floorplanning, placement (nPlace), clock-tree synthesis (TritonCTS), and routing. Magic and KLayout generate and cross-check the final GDS-II layout, and Netgen performs LVS (layout-vs-schematic). The whole physical design flow follows the open-source OpenLane/OpenROAD flow targeting the SkyWater SKY130 (130nm) process, specifically the sky130A PDK. In parallel, a Makefile/flow.json-based FPGA build targets the Digilent Arty A7-100T, using an XDC constraints file and an RTL wrapper for board I/O -- meant to demonstrate address-translation behavior via UART and GPIO/LEDs on real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UVM detail worth having ready: one top-level environment contains four independent agents -- gpio_agent, uart_agent, axi_agent, interrupt_agent -- each with its own sequencer (arbitrates stimulus), driver (converts transactions to pin-level activity), and monitor (passively observes and reconstructs transactions; never drives a signal). Each agent has its own scoreboard, and a top-level scoreboard aggregates all of them into one pass/fail verdict per test. Functional coverage groups record which GPIO patterns, UART bytes, AXI address ranges, and interrupt timings have actually been exercised. Seven reusable sequences drive the agents: gpio_passthrough_seq, uart_echo_seq, axi_write_seq, axi_read_seq, interrupt_seq, reset_seq, and regression_seq (which runs all the others back-to-back as a full smoke/regression pass).
Physical design numbers, stage by stage, if you want more depth than the slide shows: Synthesis (Yosys) mapped the RTL to 126 SKY130 cells (4 flip-flops, ~114 combinational, 8 buffers), ~450 um^2, ~2.5mW estimate. Floorplanning produced a 3600x3600um die / 3500x3500um core (12.96 mm^2) at 75% target utilization. Placement (OpenROAD nPlace) placed 363 cells with HPWL of 5,376um and average displacement of 1.0um. Clock tree synthesis (TritonCTS) served 44 flip-flop sinks via 6 buffers in 2 levels, achieving 0.18ns clock skew against a &lt;0.5ns spec. Routing used 4 metal layers (M1-M4), ~500 nets, 79,425um total wire, 100% routed with 0 DRC violations. GDS generation (Magic + KLayout) produced riscv_soc_top.gds (591KB), 363 instances, ~6,880 shapes. Sign-off: DRC clean (0 errors/warnings across metal, via, density, antenna rules), LVS 100% match (363/363 cells, no floating nets), and STA closed with positive slack on every corner (setup +0.4/+0.2/+0.6ns; hold +0.15/+0.10/+0.20ns for typical/slow/fast). Overall, 72 of 80 flow stages completed -- a clean-sign-off, tapeout-ready GDS-II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main technical talking points if challenged in Q&amp;A: (1) the scope trade-off -- a single-level page table instead of two-level SV32, and no full privileged modes/interrupt controller/OS -- was a deliberate choice to keep the translation/TLB/fault mechanism clear and demonstrable while still reaching a real physical layout; (2) TLB coherency requires a full flush on every SATP write, since otherwise a new address space would incorrectly reuse stale cached translations; (3) instruction and data paths use independent translation state machines so they don't block each other; (4) the clock tree closed with 0.18ns skew against a &lt;0.5ns spec, showing solid timing margin; (5) 72 of 80 flow stages were completed -- worth being upfront that this is a clean sign-off and tapeout-ready GDS, but not literally every flow stage, and framing the remainder as tracked follow-on work rather than glossing 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summary to read almost verbatim if needed: this project implements a virtual-memory-capable RISC-V SoC -- RV32I core, MMU/TLB, CSR-based control, and exception handling -- verified through a four-agent UVM environment with dedicated scoreboards, coverage, and seven test sequences, and carried through a complete physical design flow to a clean-sign-off, tapeout-ready SKY130 GDS-II layout, alongside a parallel FPGA path. Together these demonstrate the full lifecycle from RTL through verification to physical layout. Natural next steps if asked what's left: pre-load the MMU's page table so translations can be exercised end-to-end, replace the current UART/GPIO pass-through stubs with real controllers, and add a UVM agent that targets the core-MMU-TLB datapath directly (TLB hit/miss, page-table walks, page faults).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 question you're unsure of, it's fine to say a detail is out of scope for this simplified model (e.g., no multi-level page walk, no full privileged modes) -- that's a documented, deliberate design boundary, not 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3931920" cy="0"/>
          </a:xfrm>
          <a:prstGeom prst="line">
            <a:avLst/>
          </a:prstGeom>
          <a:noFill/>
          <a:ln w="12700">
            <a:solidFill>
              <a:srgbClr val="1E5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2331720"/>
            <a:ext cx="8625535" cy="0"/>
          </a:xfrm>
          <a:prstGeom prst="line">
            <a:avLst/>
          </a:prstGeom>
          <a:noFill/>
          <a:ln w="12700">
            <a:solidFill>
              <a:srgbClr val="1E5D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1036289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RISC-V SoC with</a:t>
            </a:r>
            <a:endParaRPr lang="en-US" sz="42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Memory Support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188720" y="3977640"/>
            <a:ext cx="9814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RTL Design, UVM Verification, and Physical Design (RTL-to-GDS)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04008" y="4892040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2608" y="5056632"/>
            <a:ext cx="612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250" dirty="0" smtClean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Noor-</a:t>
            </a:r>
            <a:r>
              <a:rPr lang="en-US" sz="1250" dirty="0" err="1" smtClean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</a:t>
            </a:r>
            <a:r>
              <a:rPr lang="en-US" sz="1250" dirty="0" smtClean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 err="1" smtClean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</a:t>
            </a: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Nabiha Fatima
</a:t>
            </a:r>
            <a:r>
              <a:rPr lang="en-US" sz="12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Program:  </a:t>
            </a: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USTP Digital IC Design and Verification
</a:t>
            </a:r>
            <a:r>
              <a:rPr lang="en-US" sz="12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 </a:t>
            </a: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 — RV32I-based SoC with Simplified Virtual Memory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13th September 2026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91495" y="384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processors use virtual addressing: each program sees its own address space, translated to physical memory by a hardware Memory Management Unit (MMU).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a simplified hardware virtual-memory mechanism on an RV32I RISC-V core — an MMU with a page table, a TLB cache, and page-fault reporting.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omits the full complexity of a multi-level SV32 walker or a complete privileged architecture, keeping the mechanism clear and demonstrable.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demonstrate, in synthesizable hardware, the same address-translation and fault-handling principles used by real processors and operating systems such as Linux.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192024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1152" y="1975104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31152" y="2249424"/>
            <a:ext cx="470001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address space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(per-process)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80576" y="2834640"/>
            <a:ext cx="201168" cy="502920"/>
          </a:xfrm>
          <a:prstGeom prst="downArrow">
            <a:avLst/>
          </a:prstGeom>
          <a:solidFill>
            <a:srgbClr val="3FD8C4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342900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1152" y="3483864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MMU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31152" y="3758184"/>
            <a:ext cx="470001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translation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(page table + TLB)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80576" y="4343400"/>
            <a:ext cx="201168" cy="502920"/>
          </a:xfrm>
          <a:prstGeom prst="downArrow">
            <a:avLst/>
          </a:prstGeom>
          <a:solidFill>
            <a:srgbClr val="3FD8C4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4937760"/>
            <a:ext cx="4846320" cy="868680"/>
          </a:xfrm>
          <a:prstGeom prst="roundRect">
            <a:avLst>
              <a:gd name="adj" fmla="val 6316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4992624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MEMORY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31152" y="5266944"/>
            <a:ext cx="470001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/ Data SRAM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— Virtual Memory Support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91495" y="384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5760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synthesizable RV32I core and a simplified MMU/TLB virtual-memory subsystem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CSR-based control (SATP, MSTATUS) and centralized exception/interrupt handling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 AXI4-Lite debug interface and UART/GPIO peripherals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design with a directed testbench and a full UVM environment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design through a complete RTL-to-GDS physical design flow, plus a parallel FPGA build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37960" y="14813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A2438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9659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0" y="2286000"/>
            <a:ext cx="4709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Single-level page table (1024 entries)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page size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translation, TLB caching, and page-fault handling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37960" y="416052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21A2B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42976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66560" y="4480560"/>
            <a:ext cx="4709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SV32 page-table walk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privileged modes (M / S / U)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controller and operating system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— Virtual Memory Support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Top-Level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91495" y="384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595360" cy="2788920"/>
          </a:xfrm>
          <a:prstGeom prst="roundRect">
            <a:avLst>
              <a:gd name="adj" fmla="val 2623"/>
            </a:avLst>
          </a:prstGeom>
          <a:solidFill>
            <a:srgbClr val="121A2B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— TOP LEVEL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55064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 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929384"/>
            <a:ext cx="21854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FSM: Fetch → Execute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→ Writeback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26664" y="1956816"/>
            <a:ext cx="594360" cy="201168"/>
          </a:xfrm>
          <a:prstGeom prst="rightArrow">
            <a:avLst/>
          </a:prstGeom>
          <a:solidFill>
            <a:srgbClr val="3FD8C4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160020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655064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 + TLB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30752" y="1929384"/>
            <a:ext cx="21854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translation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page-fault check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44184" y="1956816"/>
            <a:ext cx="594360" cy="201168"/>
          </a:xfrm>
          <a:prstGeom prst="rightArrow">
            <a:avLst/>
          </a:prstGeom>
          <a:solidFill>
            <a:srgbClr val="3FD8C4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0" y="16002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165506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48272" y="1929384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• UART • GPIO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05356" y="2569464"/>
            <a:ext cx="201168" cy="384048"/>
          </a:xfrm>
          <a:prstGeom prst="downArrow">
            <a:avLst/>
          </a:prstGeom>
          <a:solidFill>
            <a:srgbClr val="3FD8C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" y="3017520"/>
            <a:ext cx="2880360" cy="9144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3072384"/>
            <a:ext cx="2734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 / DATA SRAM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346704"/>
            <a:ext cx="27340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Physical-address access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(Harvard-style)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0" y="301752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13632" y="3072384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UNIT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13632" y="3346704"/>
            <a:ext cx="236829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SATP • MSTATUS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14900" y="2569464"/>
            <a:ext cx="201168" cy="384048"/>
          </a:xfrm>
          <a:prstGeom prst="downArrow">
            <a:avLst/>
          </a:prstGeom>
          <a:solidFill>
            <a:srgbClr val="3FD8C4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30175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3072384"/>
            <a:ext cx="2048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48272" y="3346704"/>
            <a:ext cx="204825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+ interrupts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vector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71816" y="2569464"/>
            <a:ext cx="201168" cy="384048"/>
          </a:xfrm>
          <a:prstGeom prst="downArrow">
            <a:avLst/>
          </a:prstGeom>
          <a:solidFill>
            <a:srgbClr val="3FD8C4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206240"/>
            <a:ext cx="1118585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 core issues virtual addresses for instruction fetch and data access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 (backed by TLB) resolves virtual → physical addresses before memory access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unit holds translation/status state; exception handler arbitrates faults and interrupts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level exposes an AXI4-Lite debug port plus UART/GPIO pins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— Virtual Memory Support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RV32I 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91495" y="384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72768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Multicycle, FSM-based RV32I implementation with a 32-entry register file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FETCH: issues PC to the MMU as a virtual address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EXECUTE: decodes and runs the ALU operation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issues load/store addresses to the MMU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WRITEBACK: commits the result to the register file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fetch and load/store is issued as a virtual address to the MMU — never directly to memory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6792" y="1792224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25512" y="2025396"/>
            <a:ext cx="201168" cy="201168"/>
          </a:xfrm>
          <a:prstGeom prst="rightArrow">
            <a:avLst/>
          </a:prstGeom>
          <a:solidFill>
            <a:srgbClr val="3FD8C4"/>
          </a:solidFill>
          <a:ln/>
        </p:spPr>
      </p:sp>
      <p:sp>
        <p:nvSpPr>
          <p:cNvPr id="10" name="Shape 8"/>
          <p:cNvSpPr/>
          <p:nvPr/>
        </p:nvSpPr>
        <p:spPr>
          <a:xfrm>
            <a:off x="7754112" y="173736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27264" y="1792224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15984" y="2025396"/>
            <a:ext cx="201168" cy="201168"/>
          </a:xfrm>
          <a:prstGeom prst="rightArrow">
            <a:avLst/>
          </a:prstGeom>
          <a:solidFill>
            <a:srgbClr val="3FD8C4"/>
          </a:solidFill>
          <a:ln/>
        </p:spPr>
      </p:sp>
      <p:sp>
        <p:nvSpPr>
          <p:cNvPr id="13" name="Shape 11"/>
          <p:cNvSpPr/>
          <p:nvPr/>
        </p:nvSpPr>
        <p:spPr>
          <a:xfrm>
            <a:off x="9244584" y="173736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17736" y="1792224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506456" y="2025396"/>
            <a:ext cx="201168" cy="201168"/>
          </a:xfrm>
          <a:prstGeom prst="rightArrow">
            <a:avLst/>
          </a:prstGeom>
          <a:solidFill>
            <a:srgbClr val="3FD8C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35056" y="173736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08208" y="1792224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WRITEBACK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679192"/>
            <a:ext cx="5705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file commit → next fetch cycle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3246120"/>
            <a:ext cx="5425135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337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↔ MMU HANDSHAKE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611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fetch and load/store address crosses to the MMU via a valid/ready handshake, with a page-fault return path — the architectural boundary that enables the virtual-memory subsystem.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663440"/>
          <a:ext cx="5257800" cy="1508760"/>
        </p:xfrm>
        <a:graphic>
          <a:graphicData uri="http://schemas.openxmlformats.org/drawingml/2006/table">
            <a:tbl>
              <a:tblPr/>
              <a:tblGrid>
                <a:gridCol w="1463040"/>
                <a:gridCol w="3794760"/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0A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D8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0A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D8C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 (reg/imm)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ADD, SUB, AND, OR, XOR, SLT, SLTU, ADDI, ANDI, ORI, SLLI, SRLI, SRAI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Loads / Stores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LB, LH, LW, LBU, LHU / SB, SH, SW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transfer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JAL, JALR, BEQ, BNE, BLT, BGE, BLTU, BGEU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imm. / System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LUI, AUIPC / ECALL, EBREAK, CSRRW, CSRRS, CSRRC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— Virtual Memory Support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Memory Subsystem: MMU &amp; TLB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91495" y="384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address is split into a Virtual Page Number (VPN) and a page offset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MMU indexes a single-level, 1024-entry page table with the VPN to find a Physical Page Number (PPN) and permission flags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16-entry fully-associative TLB (a CAM comparing all entries in parallel) caches recent translations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accesses complete in one cycle instead of paying for a full page-table lookup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TLB is flushed whenever SATP changes — a new address space invalidates all cached translations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169164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746504"/>
            <a:ext cx="5111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ADDRESS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19672" y="2020824"/>
            <a:ext cx="51114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 +  Page Offset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974836" y="2404872"/>
            <a:ext cx="201168" cy="320040"/>
          </a:xfrm>
          <a:prstGeom prst="downArrow">
            <a:avLst/>
          </a:prstGeom>
          <a:solidFill>
            <a:srgbClr val="3FD8C4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278892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843784"/>
            <a:ext cx="5111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16-ENTRY TLB (CAM)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9672" y="3118104"/>
            <a:ext cx="51114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compare of cached translations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74836" y="3502152"/>
            <a:ext cx="201168" cy="320040"/>
          </a:xfrm>
          <a:prstGeom prst="downArrow">
            <a:avLst/>
          </a:prstGeom>
          <a:solidFill>
            <a:srgbClr val="3FD8C4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3886200"/>
            <a:ext cx="2537460" cy="658368"/>
          </a:xfrm>
          <a:prstGeom prst="roundRect">
            <a:avLst>
              <a:gd name="adj" fmla="val 8333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3941064"/>
            <a:ext cx="23911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TLB HIT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19672" y="4215384"/>
            <a:ext cx="23911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PPN returned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cycle)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66860" y="3886200"/>
            <a:ext cx="2537460" cy="658368"/>
          </a:xfrm>
          <a:prstGeom prst="roundRect">
            <a:avLst>
              <a:gd name="adj" fmla="val 8333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40012" y="3941064"/>
            <a:ext cx="23911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TLB MISS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40012" y="4215384"/>
            <a:ext cx="23911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Page-table walk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(1024-entry)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4754880"/>
          <a:ext cx="5257800" cy="1508760"/>
        </p:xfrm>
        <a:graphic>
          <a:graphicData uri="http://schemas.openxmlformats.org/drawingml/2006/table">
            <a:tbl>
              <a:tblPr/>
              <a:tblGrid>
                <a:gridCol w="1280160"/>
                <a:gridCol w="3977640"/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PTE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D8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D8C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/ R / W / 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/ Read / Write / Execute permission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/ 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User-accessible / Global (not flushed on address-space switch)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Accessed / Dirty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page number this entry maps 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— Virtual Memory Support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Translation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91495" y="384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A2438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819656"/>
            <a:ext cx="438912" cy="438912"/>
          </a:xfrm>
          <a:prstGeom prst="ellipse">
            <a:avLst/>
          </a:prstGeom>
          <a:solidFill>
            <a:srgbClr val="3FD8C4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819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648" y="231343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issues VA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2648" y="26974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fetch or data access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2299716"/>
            <a:ext cx="128016" cy="201168"/>
          </a:xfrm>
          <a:prstGeom prst="rightArrow">
            <a:avLst/>
          </a:prstGeom>
          <a:solidFill>
            <a:srgbClr val="3FD8C4"/>
          </a:solidFill>
          <a:ln/>
        </p:spPr>
      </p:sp>
      <p:sp>
        <p:nvSpPr>
          <p:cNvPr id="12" name="Shape 10"/>
          <p:cNvSpPr/>
          <p:nvPr/>
        </p:nvSpPr>
        <p:spPr>
          <a:xfrm>
            <a:off x="2752344" y="1691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A2438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5304" y="1819656"/>
            <a:ext cx="438912" cy="438912"/>
          </a:xfrm>
          <a:prstGeom prst="ellipse">
            <a:avLst/>
          </a:prstGeom>
          <a:solidFill>
            <a:srgbClr val="3FD8C4"/>
          </a:solidFill>
          <a:ln/>
        </p:spPr>
      </p:sp>
      <p:sp>
        <p:nvSpPr>
          <p:cNvPr id="14" name="Text 12"/>
          <p:cNvSpPr/>
          <p:nvPr/>
        </p:nvSpPr>
        <p:spPr>
          <a:xfrm>
            <a:off x="3575304" y="1819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62072" y="231343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 checks TLB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62072" y="26974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all entries (CAM)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55464" y="2299716"/>
            <a:ext cx="128016" cy="201168"/>
          </a:xfrm>
          <a:prstGeom prst="rightArrow">
            <a:avLst/>
          </a:prstGeom>
          <a:solidFill>
            <a:srgbClr val="3FD8C4"/>
          </a:solidFill>
          <a:ln/>
        </p:spPr>
      </p:sp>
      <p:sp>
        <p:nvSpPr>
          <p:cNvPr id="18" name="Shape 16"/>
          <p:cNvSpPr/>
          <p:nvPr/>
        </p:nvSpPr>
        <p:spPr>
          <a:xfrm>
            <a:off x="5001768" y="1691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A2438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24728" y="1819656"/>
            <a:ext cx="438912" cy="438912"/>
          </a:xfrm>
          <a:prstGeom prst="ellipse">
            <a:avLst/>
          </a:prstGeom>
          <a:solidFill>
            <a:srgbClr val="3FD8C4"/>
          </a:solidFill>
          <a:ln/>
        </p:spPr>
      </p:sp>
      <p:sp>
        <p:nvSpPr>
          <p:cNvPr id="20" name="Text 18"/>
          <p:cNvSpPr/>
          <p:nvPr/>
        </p:nvSpPr>
        <p:spPr>
          <a:xfrm>
            <a:off x="5824728" y="1819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11496" y="231343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→ PA returned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11496" y="26974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immediately, same cycle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04888" y="2299716"/>
            <a:ext cx="128016" cy="201168"/>
          </a:xfrm>
          <a:prstGeom prst="rightArrow">
            <a:avLst/>
          </a:prstGeom>
          <a:solidFill>
            <a:srgbClr val="3FD8C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51192" y="1691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A2438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74152" y="1819656"/>
            <a:ext cx="438912" cy="438912"/>
          </a:xfrm>
          <a:prstGeom prst="ellipse">
            <a:avLst/>
          </a:prstGeom>
          <a:solidFill>
            <a:srgbClr val="3FD8C4"/>
          </a:solidFill>
          <a:ln/>
        </p:spPr>
      </p:sp>
      <p:sp>
        <p:nvSpPr>
          <p:cNvPr id="26" name="Text 24"/>
          <p:cNvSpPr/>
          <p:nvPr/>
        </p:nvSpPr>
        <p:spPr>
          <a:xfrm>
            <a:off x="8074152" y="1819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60920" y="231343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→ page-table walk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60920" y="26974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valid bit + permissions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354312" y="2299716"/>
            <a:ext cx="128016" cy="201168"/>
          </a:xfrm>
          <a:prstGeom prst="rightArrow">
            <a:avLst/>
          </a:prstGeom>
          <a:solidFill>
            <a:srgbClr val="3FD8C4"/>
          </a:solidFill>
          <a:ln/>
        </p:spPr>
      </p:sp>
      <p:sp>
        <p:nvSpPr>
          <p:cNvPr id="30" name="Shape 28"/>
          <p:cNvSpPr/>
          <p:nvPr/>
        </p:nvSpPr>
        <p:spPr>
          <a:xfrm>
            <a:off x="9500616" y="1691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A2438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23576" y="1819656"/>
            <a:ext cx="438912" cy="438912"/>
          </a:xfrm>
          <a:prstGeom prst="ellipse">
            <a:avLst/>
          </a:prstGeom>
          <a:solidFill>
            <a:srgbClr val="3FD8C4"/>
          </a:solidFill>
          <a:ln/>
        </p:spPr>
      </p:sp>
      <p:sp>
        <p:nvSpPr>
          <p:cNvPr id="32" name="Text 30"/>
          <p:cNvSpPr/>
          <p:nvPr/>
        </p:nvSpPr>
        <p:spPr>
          <a:xfrm>
            <a:off x="10323576" y="1819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10344" y="231343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in TLB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610344" y="269748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&amp; permitted access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342900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121A2B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5844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FAULT PATH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39319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invalid or permission-violating access raises a page fault instead of completing the translation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faults are merged with core exceptions and external interrupts by the exception handler into a single trap decision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72200" y="3429000"/>
            <a:ext cx="5516575" cy="2606040"/>
          </a:xfrm>
          <a:prstGeom prst="roundRect">
            <a:avLst>
              <a:gd name="adj" fmla="val 2807"/>
            </a:avLst>
          </a:prstGeom>
          <a:solidFill>
            <a:srgbClr val="121A2B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5844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&amp; CONSISTENT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0" y="393192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translation state machines handle the instruction and data paths independently — a fetch and a load/store can translate at the same time</a:t>
            </a:r>
            <a:endParaRPr lang="en-US" sz="120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TLB is flushed whenever SATP changes, since a new address space invalidates every previously cached translation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— Virtual Memory Support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Integration &amp; Interfaces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91495" y="384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5806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unit holds SATP (MMU translation base, flushes TLB on write), MSTATUS, and a cycle counter — accessed via CSRRW / CSRRS / CSRRC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handler merges core exceptions (illegal instruction, ECALL/EBREAK), MMU page faults, and external interrupts into one trap decision using MSTATUS / MIE / MIP and MTVEC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AXI4-Lite subordinate port (plus an AXI4 arbiter for multi-master use) exposes on-chip registers to an external host/debugger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and GPIO pins support board-level demonstration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and data memory are separate 4096-word single-port SRAMs (Harvard-style), accessed only with the physical address the MMU produces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746504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 CORE + MMU/TLB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97696" y="2359152"/>
            <a:ext cx="201168" cy="274320"/>
          </a:xfrm>
          <a:prstGeom prst="downArrow">
            <a:avLst/>
          </a:prstGeom>
          <a:solidFill>
            <a:srgbClr val="3FD8C4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69748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752344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UNIT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65392" y="3026664"/>
            <a:ext cx="23225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SATP • MSTATUS • cycle cnt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235440" y="269748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08592" y="2752344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08592" y="3026664"/>
            <a:ext cx="23225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 / MIP / MTVEC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97696" y="3383280"/>
            <a:ext cx="201168" cy="274320"/>
          </a:xfrm>
          <a:prstGeom prst="downArrow">
            <a:avLst/>
          </a:prstGeom>
          <a:solidFill>
            <a:srgbClr val="3FD8C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70332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758184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SUBORDINATE + ARBITER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65392" y="4032504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Debug/host register access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97696" y="4389120"/>
            <a:ext cx="201168" cy="274320"/>
          </a:xfrm>
          <a:prstGeom prst="downArrow">
            <a:avLst/>
          </a:prstGeom>
          <a:solidFill>
            <a:srgbClr val="3FD8C4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470916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4764024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65392" y="5038344"/>
            <a:ext cx="23225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demo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235440" y="470916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1A2438"/>
          </a:solidFill>
          <a:ln w="15875">
            <a:solidFill>
              <a:srgbClr val="1E5D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08592" y="4764024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308592" y="5038344"/>
            <a:ext cx="23225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demo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— Virtual Memory Support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91495" y="384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3112" cy="4361688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5605272"/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0A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D8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0A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Tool(s)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D8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0A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D8C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RTL Design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SystemVerilog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Core, MMU/TLB, CSR, exception handler, SRAM, AXI arbiter, top-level SoC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Directed Simulation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tb_riscv_soc.sv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self-checking bring-up: reset, PC advance, GPIO, UART loopback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UVM Verification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SystemVerilog UVM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4-agent environment with scoreboards, coverage, and 7 sequences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Yosys 0.62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RTL to SKY130 standard cells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Floorplan / Place / Route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OpenROAD (nPlace, TritonCTS, Router)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Floorplanning, placement, clock-tree synthesis, routing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GDS Generation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 + KLayout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Streams the final riscv_soc_top.gds layout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Sign-off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Magic, KLayout (DRC) • Netgen (LVS)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Design-rule and layout-vs-schematic verification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Build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Makefile / flow.json / XDC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 Digilent Arty A7-100T for functional demo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989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1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 follows the open-source OpenLane/OpenROAD flow targeting the SkyWater SKY130 (130 nm) process (sky130A PDK)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— Virtual Memory Support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Verification, Simulation &amp; Sign-off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91495" y="384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ENVIRONMENT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5760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18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top-level env with 4 independent agents — GPIO, UART, AXI4-Lite, interrupt — each with a sequencer, driver, and monitor</a:t>
            </a:r>
            <a:endParaRPr lang="en-US" sz="118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18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a dedicated scoreboard; a top-level scoreboard aggregates results into one pass/fail verdict per test</a:t>
            </a:r>
            <a:endParaRPr lang="en-US" sz="118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18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coverage tracks GPIO patterns, UART bytes, AXI address ranges, and interrupt timings</a:t>
            </a:r>
            <a:endParaRPr lang="en-US" sz="118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18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reusable sequences (gpio_passthrough, uart_echo, axi_write/read, interrupt, reset, regression)</a:t>
            </a:r>
            <a:endParaRPr lang="en-US" sz="118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617720"/>
          <a:ext cx="5760720" cy="1645920"/>
        </p:xfrm>
        <a:graphic>
          <a:graphicData uri="http://schemas.openxmlformats.org/drawingml/2006/table">
            <a:tbl>
              <a:tblPr/>
              <a:tblGrid>
                <a:gridCol w="2468880"/>
                <a:gridCol w="3291840"/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Sign-off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D8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0E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D8C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DRC (Magic + KLayout)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errors, 0 warnings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LVS (Netgen)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match — 363/363 cells, no floating nets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 (Typical/Slow/Fast)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setup &amp; hold slack on every corner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(est. @ 100 MHz)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EF2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~3.5 mW total, IR drop &lt; 45 mV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/home/claude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171" y="1600200"/>
            <a:ext cx="3742073" cy="2103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3776472"/>
            <a:ext cx="54251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Full-chip layout in OpenROAD — routing-congestion heat map, met1–met5 stack, I/O ring, and power straps.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— Virtual Memory Support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Design Considerations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91495" y="384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72768"/>
            <a:ext cx="5410048" cy="1481328"/>
          </a:xfrm>
          <a:prstGeom prst="roundRect">
            <a:avLst>
              <a:gd name="adj" fmla="val 4938"/>
            </a:avLst>
          </a:prstGeom>
          <a:solidFill>
            <a:srgbClr val="1A2438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682496"/>
            <a:ext cx="500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Virtual Memory Model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1993392"/>
            <a:ext cx="5007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single-level page table (vs. two-level SV32) and no full privileged modes/interrupt controller/OS keep the translation, TLB caching, and fault-handling mechanisms clear and demonstrable, while still reaching a physical layout.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78728" y="1572768"/>
            <a:ext cx="5410048" cy="1481328"/>
          </a:xfrm>
          <a:prstGeom prst="roundRect">
            <a:avLst>
              <a:gd name="adj" fmla="val 4938"/>
            </a:avLst>
          </a:prstGeom>
          <a:solidFill>
            <a:srgbClr val="1A2438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9896" y="1682496"/>
            <a:ext cx="500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TLB Coherency on Context Switch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79896" y="1993392"/>
            <a:ext cx="5007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TLB must be flushed on every SATP write, since a new address space would otherwise leave stale, incorrect translations cached.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02920" y="3255264"/>
            <a:ext cx="5410048" cy="1481328"/>
          </a:xfrm>
          <a:prstGeom prst="roundRect">
            <a:avLst>
              <a:gd name="adj" fmla="val 4938"/>
            </a:avLst>
          </a:prstGeom>
          <a:solidFill>
            <a:srgbClr val="121A2B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364992"/>
            <a:ext cx="500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Translation Paths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4088" y="3675888"/>
            <a:ext cx="5007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and data accesses use separate translation state machines so a fetch and a load/store can be in translation at the same time without interfering.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78728" y="3255264"/>
            <a:ext cx="5410048" cy="1481328"/>
          </a:xfrm>
          <a:prstGeom prst="roundRect">
            <a:avLst>
              <a:gd name="adj" fmla="val 4938"/>
            </a:avLst>
          </a:prstGeom>
          <a:solidFill>
            <a:srgbClr val="121A2B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9896" y="3364992"/>
            <a:ext cx="500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Clock-Tree Timing Margin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79896" y="3675888"/>
            <a:ext cx="5007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TritonCTS achieved 0.18 ns clock skew across 44 flip-flop sinks, well within the &lt; 0.5 ns specification.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02920" y="4937760"/>
            <a:ext cx="5410048" cy="1481328"/>
          </a:xfrm>
          <a:prstGeom prst="roundRect">
            <a:avLst>
              <a:gd name="adj" fmla="val 4938"/>
            </a:avLst>
          </a:prstGeom>
          <a:solidFill>
            <a:srgbClr val="1A2438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5047488"/>
            <a:ext cx="5007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Completion Status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4088" y="5358384"/>
            <a:ext cx="5007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of 80 physical-design flow stages completed; the design reached clean sign-off (DRC/LVS/STA) and a </a:t>
            </a:r>
            <a:r>
              <a:rPr lang="en-US" sz="1080" dirty="0" smtClean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8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GDS, with remaining stages tracked as follow-on work.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— Virtual Memory Support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91495" y="3840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9525">
            <a:solidFill>
              <a:srgbClr val="2A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19" y="1810512"/>
            <a:ext cx="1008857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virtual-memory-capable RISC-V SoC: RV32I core, MMU/TLB, CSR-based control, and exception handling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through a four-agent UVM environment with dedicated scoreboards, coverage, and seven test sequences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through a complete physical design flow to a clean-sign-off, tapeout-ready SKY130 GDS-II layout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EE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FPGA build path targeting the Digilent Arty A7-100T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4370832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 w="12700">
            <a:solidFill>
              <a:srgbClr val="2A36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46320"/>
            <a:ext cx="5212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 these demonstrate the full lifecycle from RTL through verification to physical layout.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— Virtual Memory Support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4206240" cy="0"/>
          </a:xfrm>
          <a:prstGeom prst="line">
            <a:avLst/>
          </a:prstGeom>
          <a:noFill/>
          <a:ln w="12700">
            <a:solidFill>
              <a:srgbClr val="1E5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85455" y="2651760"/>
            <a:ext cx="4206240" cy="0"/>
          </a:xfrm>
          <a:prstGeom prst="line">
            <a:avLst/>
          </a:prstGeom>
          <a:noFill/>
          <a:ln w="12700">
            <a:solidFill>
              <a:srgbClr val="1E5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SoC with Virtual Memory Support — RTL to GDS-II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3D3D3D"/>
      </a:dk1>
      <a:lt1>
        <a:sysClr val="window" lastClr="FFFAE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3D3D3D"/>
      </a:dk1>
      <a:lt1>
        <a:sysClr val="window" lastClr="FFFAE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3263</Words>
  <Application>Microsoft Office PowerPoint</Application>
  <PresentationFormat>Widescreen</PresentationFormat>
  <Paragraphs>271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Muhmmad Aafaq Memon</cp:lastModifiedBy>
  <cp:revision>4</cp:revision>
  <dcterms:created xsi:type="dcterms:W3CDTF">2026-09-13T15:13:38Z</dcterms:created>
  <dcterms:modified xsi:type="dcterms:W3CDTF">2026-09-13T15:23:11Z</dcterms:modified>
</cp:coreProperties>
</file>