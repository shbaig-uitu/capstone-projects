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BM Plex Mono Bold" charset="1" panose="020B0809050203000203"/>
      <p:regular r:id="rId20"/>
    </p:embeddedFont>
    <p:embeddedFont>
      <p:font typeface="IBM Plex Mono" charset="1" panose="020B0509050203000203"/>
      <p:regular r:id="rId21"/>
    </p:embeddedFont>
    <p:embeddedFont>
      <p:font typeface="Akzidenz-Grotesk Bold" charset="1" panose="02000803050000020004"/>
      <p:regular r:id="rId22"/>
    </p:embeddedFont>
    <p:embeddedFont>
      <p:font typeface="IBM Plex Sans" charset="1" panose="020B0503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0" y="1428750"/>
            <a:ext cx="5334000" cy="5334000"/>
            <a:chOff x="0" y="0"/>
            <a:chExt cx="7112000" cy="711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36A3FF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49250" y="2428875"/>
            <a:ext cx="3429000" cy="3429000"/>
            <a:chOff x="0" y="0"/>
            <a:chExt cx="4572000" cy="4572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572000" cy="4572000"/>
              <a:chOff x="0" y="0"/>
              <a:chExt cx="4572000" cy="4572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72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572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62000" y="825500"/>
              <a:ext cx="1397000" cy="1397000"/>
              <a:chOff x="0" y="0"/>
              <a:chExt cx="1397000" cy="139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138545" y="0"/>
                    </a:moveTo>
                    <a:lnTo>
                      <a:pt x="1258455" y="0"/>
                    </a:lnTo>
                    <a:cubicBezTo>
                      <a:pt x="1334971" y="0"/>
                      <a:pt x="1397000" y="62029"/>
                      <a:pt x="1397000" y="138545"/>
                    </a:cubicBezTo>
                    <a:lnTo>
                      <a:pt x="1397000" y="1258455"/>
                    </a:lnTo>
                    <a:cubicBezTo>
                      <a:pt x="1397000" y="1334971"/>
                      <a:pt x="1334971" y="1397000"/>
                      <a:pt x="1258455" y="1397000"/>
                    </a:cubicBezTo>
                    <a:lnTo>
                      <a:pt x="138545" y="1397000"/>
                    </a:lnTo>
                    <a:cubicBezTo>
                      <a:pt x="62029" y="1397000"/>
                      <a:pt x="0" y="1334971"/>
                      <a:pt x="0" y="1258455"/>
                    </a:cubicBezTo>
                    <a:lnTo>
                      <a:pt x="0" y="138545"/>
                    </a:lnTo>
                    <a:cubicBezTo>
                      <a:pt x="0" y="62029"/>
                      <a:pt x="62029" y="0"/>
                      <a:pt x="138545" y="0"/>
                    </a:cubicBezTo>
                    <a:close/>
                  </a:path>
                </a:pathLst>
              </a:custGeom>
              <a:solidFill>
                <a:srgbClr val="122842"/>
              </a:solidFill>
              <a:ln w="19050" cap="sq">
                <a:solidFill>
                  <a:srgbClr val="36A3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97000" cy="14255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4F8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RV32I</a:t>
                </a:r>
              </a:p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4F8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C0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13000" y="825500"/>
              <a:ext cx="1397000" cy="1397000"/>
              <a:chOff x="0" y="0"/>
              <a:chExt cx="1397000" cy="1397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138545" y="0"/>
                    </a:moveTo>
                    <a:lnTo>
                      <a:pt x="1258455" y="0"/>
                    </a:lnTo>
                    <a:cubicBezTo>
                      <a:pt x="1334971" y="0"/>
                      <a:pt x="1397000" y="62029"/>
                      <a:pt x="1397000" y="138545"/>
                    </a:cubicBezTo>
                    <a:lnTo>
                      <a:pt x="1397000" y="1258455"/>
                    </a:lnTo>
                    <a:cubicBezTo>
                      <a:pt x="1397000" y="1334971"/>
                      <a:pt x="1334971" y="1397000"/>
                      <a:pt x="1258455" y="1397000"/>
                    </a:cubicBezTo>
                    <a:lnTo>
                      <a:pt x="138545" y="1397000"/>
                    </a:lnTo>
                    <a:cubicBezTo>
                      <a:pt x="62029" y="1397000"/>
                      <a:pt x="0" y="1334971"/>
                      <a:pt x="0" y="1258455"/>
                    </a:cubicBezTo>
                    <a:lnTo>
                      <a:pt x="0" y="138545"/>
                    </a:lnTo>
                    <a:cubicBezTo>
                      <a:pt x="0" y="62029"/>
                      <a:pt x="62029" y="0"/>
                      <a:pt x="138545" y="0"/>
                    </a:cubicBezTo>
                    <a:close/>
                  </a:path>
                </a:pathLst>
              </a:custGeom>
              <a:solidFill>
                <a:srgbClr val="122842"/>
              </a:solidFill>
              <a:ln w="19050" cap="sq">
                <a:solidFill>
                  <a:srgbClr val="36A3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97000" cy="14255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4F8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RV32I</a:t>
                </a:r>
              </a:p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4F8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C1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62000" y="2730500"/>
              <a:ext cx="3048000" cy="914400"/>
              <a:chOff x="0" y="0"/>
              <a:chExt cx="3048000" cy="914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480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3048000">
                    <a:moveTo>
                      <a:pt x="63500" y="0"/>
                    </a:moveTo>
                    <a:lnTo>
                      <a:pt x="2984500" y="0"/>
                    </a:lnTo>
                    <a:cubicBezTo>
                      <a:pt x="3019570" y="0"/>
                      <a:pt x="3048000" y="28430"/>
                      <a:pt x="3048000" y="63500"/>
                    </a:cubicBezTo>
                    <a:lnTo>
                      <a:pt x="3048000" y="850900"/>
                    </a:lnTo>
                    <a:cubicBezTo>
                      <a:pt x="3048000" y="885970"/>
                      <a:pt x="3019570" y="914400"/>
                      <a:pt x="2984500" y="914400"/>
                    </a:cubicBezTo>
                    <a:lnTo>
                      <a:pt x="63500" y="914400"/>
                    </a:lnTo>
                    <a:cubicBezTo>
                      <a:pt x="28430" y="914400"/>
                      <a:pt x="0" y="885970"/>
                      <a:pt x="0" y="8509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6A3FF"/>
              </a:solidFill>
              <a:ln w="19050" cap="sq">
                <a:solidFill>
                  <a:srgbClr val="36A3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3048000" cy="942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4F8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NoC FABRIC</a:t>
                </a: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838200" y="885825"/>
            <a:ext cx="8096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DIGITAL IC DESIGN · CAPSTONE 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200" y="1962150"/>
            <a:ext cx="11239500" cy="23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5550" b="true">
                <a:solidFill>
                  <a:srgbClr val="F4F8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RISC-V SoC with</a:t>
            </a:r>
          </a:p>
          <a:p>
            <a:pPr algn="l">
              <a:lnSpc>
                <a:spcPts val="5827"/>
              </a:lnSpc>
            </a:pPr>
            <a:r>
              <a:rPr lang="en-US" sz="5550" b="true">
                <a:solidFill>
                  <a:srgbClr val="F4F8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Network-on-Chip-Inspired</a:t>
            </a:r>
          </a:p>
          <a:p>
            <a:pPr algn="l">
              <a:lnSpc>
                <a:spcPts val="5827"/>
              </a:lnSpc>
            </a:pPr>
            <a:r>
              <a:rPr lang="en-US" sz="5550" b="true">
                <a:solidFill>
                  <a:srgbClr val="F4F8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Multi-Core Interconnect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8200" y="5676900"/>
            <a:ext cx="6667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55D6D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DUAL-CORE RV32I SoC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200" y="6257925"/>
            <a:ext cx="809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Digital IC Design &amp; Verification Capstone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200" y="8848725"/>
            <a:ext cx="9525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9EB2C8"/>
                </a:solidFill>
                <a:latin typeface="IBM Plex Mono"/>
                <a:ea typeface="IBM Plex Mono"/>
                <a:cs typeface="IBM Plex Mono"/>
                <a:sym typeface="IBM Plex Mono"/>
              </a:rPr>
              <a:t>Kashish Shaikh  ·  Lareb Saba  ·  Muskan Jarwar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Project Objective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38200" y="1952625"/>
            <a:ext cx="3714750" cy="2714625"/>
            <a:chOff x="0" y="0"/>
            <a:chExt cx="4953000" cy="3619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2× RV32I cores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33950" y="1952625"/>
            <a:ext cx="3714750" cy="2714625"/>
            <a:chOff x="0" y="0"/>
            <a:chExt cx="4953000" cy="3619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Private IMEM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29700" y="1952625"/>
            <a:ext cx="3714750" cy="2714625"/>
            <a:chOff x="0" y="0"/>
            <a:chExt cx="4953000" cy="3619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Shared 8 KB SRAM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125450" y="1952625"/>
            <a:ext cx="3714750" cy="2714625"/>
            <a:chOff x="0" y="0"/>
            <a:chExt cx="4953000" cy="3619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4 routed targets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38200" y="5286375"/>
            <a:ext cx="3714750" cy="2714625"/>
            <a:chOff x="0" y="0"/>
            <a:chExt cx="4953000" cy="3619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Round-robin fairness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33950" y="5286375"/>
            <a:ext cx="3714750" cy="2714625"/>
            <a:chOff x="0" y="0"/>
            <a:chExt cx="4953000" cy="36195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Inter-core mailbox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29700" y="5286375"/>
            <a:ext cx="3714750" cy="2714625"/>
            <a:chOff x="0" y="0"/>
            <a:chExt cx="4953000" cy="36195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55600" y="1358900"/>
              <a:ext cx="4191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UART + GPIO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125450" y="5286375"/>
            <a:ext cx="3714750" cy="2714625"/>
            <a:chOff x="0" y="0"/>
            <a:chExt cx="4953000" cy="36195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4953000" cy="3619500"/>
              <a:chOff x="0" y="0"/>
              <a:chExt cx="4953000" cy="36195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9530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49530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55600" y="307975"/>
              <a:ext cx="762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55600" y="1358900"/>
              <a:ext cx="4191000" cy="920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UVM + Sky130A + FPGA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System Architecture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238375"/>
            <a:ext cx="2381250" cy="1047750"/>
            <a:chOff x="0" y="0"/>
            <a:chExt cx="3175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336040"/>
                  </a:lnTo>
                  <a:cubicBezTo>
                    <a:pt x="3175000" y="1369707"/>
                    <a:pt x="3147707" y="1397000"/>
                    <a:pt x="3114040" y="1397000"/>
                  </a:cubicBezTo>
                  <a:lnTo>
                    <a:pt x="60960" y="1397000"/>
                  </a:lnTo>
                  <a:cubicBezTo>
                    <a:pt x="27293" y="1397000"/>
                    <a:pt x="0" y="1369707"/>
                    <a:pt x="0" y="13360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75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RV32I CORE 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3714750"/>
            <a:ext cx="2381250" cy="809625"/>
            <a:chOff x="0" y="0"/>
            <a:chExt cx="3175000" cy="1079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1079500"/>
            </a:xfrm>
            <a:custGeom>
              <a:avLst/>
              <a:gdLst/>
              <a:ahLst/>
              <a:cxnLst/>
              <a:rect r="r" b="b" t="t" l="l"/>
              <a:pathLst>
                <a:path h="10795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018540"/>
                  </a:lnTo>
                  <a:cubicBezTo>
                    <a:pt x="3175000" y="1052207"/>
                    <a:pt x="3147707" y="1079500"/>
                    <a:pt x="3114040" y="1079500"/>
                  </a:cubicBezTo>
                  <a:lnTo>
                    <a:pt x="60960" y="1079500"/>
                  </a:lnTo>
                  <a:cubicBezTo>
                    <a:pt x="27293" y="1079500"/>
                    <a:pt x="0" y="1052207"/>
                    <a:pt x="0" y="10185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75000" cy="111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 KB IMEM0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250" y="5810250"/>
            <a:ext cx="2381250" cy="1047750"/>
            <a:chOff x="0" y="0"/>
            <a:chExt cx="317500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336040"/>
                  </a:lnTo>
                  <a:cubicBezTo>
                    <a:pt x="3175000" y="1369707"/>
                    <a:pt x="3147707" y="1397000"/>
                    <a:pt x="3114040" y="1397000"/>
                  </a:cubicBezTo>
                  <a:lnTo>
                    <a:pt x="60960" y="1397000"/>
                  </a:lnTo>
                  <a:cubicBezTo>
                    <a:pt x="27293" y="1397000"/>
                    <a:pt x="0" y="1369707"/>
                    <a:pt x="0" y="13360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75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RV32I CORE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" y="7286625"/>
            <a:ext cx="2381250" cy="809625"/>
            <a:chOff x="0" y="0"/>
            <a:chExt cx="3175000" cy="1079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75000" cy="1079500"/>
            </a:xfrm>
            <a:custGeom>
              <a:avLst/>
              <a:gdLst/>
              <a:ahLst/>
              <a:cxnLst/>
              <a:rect r="r" b="b" t="t" l="l"/>
              <a:pathLst>
                <a:path h="10795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018540"/>
                  </a:lnTo>
                  <a:cubicBezTo>
                    <a:pt x="3175000" y="1052207"/>
                    <a:pt x="3147707" y="1079500"/>
                    <a:pt x="3114040" y="1079500"/>
                  </a:cubicBezTo>
                  <a:lnTo>
                    <a:pt x="60960" y="1079500"/>
                  </a:lnTo>
                  <a:cubicBezTo>
                    <a:pt x="27293" y="1079500"/>
                    <a:pt x="0" y="1052207"/>
                    <a:pt x="0" y="10185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75000" cy="111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 KB IMEM1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00625" y="2667000"/>
            <a:ext cx="3619500" cy="4572000"/>
            <a:chOff x="0" y="0"/>
            <a:chExt cx="4826000" cy="609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2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4826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6055895"/>
                  </a:lnTo>
                  <a:cubicBezTo>
                    <a:pt x="4826000" y="6078044"/>
                    <a:pt x="4808044" y="6096000"/>
                    <a:pt x="4785895" y="6096000"/>
                  </a:cubicBezTo>
                  <a:lnTo>
                    <a:pt x="40105" y="6096000"/>
                  </a:lnTo>
                  <a:cubicBezTo>
                    <a:pt x="17956" y="6096000"/>
                    <a:pt x="0" y="6078044"/>
                    <a:pt x="0" y="6055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826000" cy="614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ADDR DECODE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+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4× ARBITER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+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REQ/RSP MUX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72750" y="2428875"/>
            <a:ext cx="2762250" cy="1809750"/>
            <a:chOff x="0" y="0"/>
            <a:chExt cx="3683000" cy="241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8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360448"/>
                  </a:lnTo>
                  <a:cubicBezTo>
                    <a:pt x="3683000" y="2374386"/>
                    <a:pt x="3677463" y="2387753"/>
                    <a:pt x="3667608" y="2397608"/>
                  </a:cubicBezTo>
                  <a:cubicBezTo>
                    <a:pt x="3657753" y="2407463"/>
                    <a:pt x="3644386" y="2413000"/>
                    <a:pt x="3630448" y="2413000"/>
                  </a:cubicBezTo>
                  <a:lnTo>
                    <a:pt x="52552" y="2413000"/>
                  </a:lnTo>
                  <a:cubicBezTo>
                    <a:pt x="38614" y="2413000"/>
                    <a:pt x="25247" y="2407463"/>
                    <a:pt x="15392" y="2397608"/>
                  </a:cubicBezTo>
                  <a:cubicBezTo>
                    <a:pt x="5537" y="2387753"/>
                    <a:pt x="0" y="2374386"/>
                    <a:pt x="0" y="2360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683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8 KB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SRAM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01750" y="2428875"/>
            <a:ext cx="2762250" cy="1809750"/>
            <a:chOff x="0" y="0"/>
            <a:chExt cx="3683000" cy="241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8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360448"/>
                  </a:lnTo>
                  <a:cubicBezTo>
                    <a:pt x="3683000" y="2374386"/>
                    <a:pt x="3677463" y="2387753"/>
                    <a:pt x="3667608" y="2397608"/>
                  </a:cubicBezTo>
                  <a:cubicBezTo>
                    <a:pt x="3657753" y="2407463"/>
                    <a:pt x="3644386" y="2413000"/>
                    <a:pt x="3630448" y="2413000"/>
                  </a:cubicBezTo>
                  <a:lnTo>
                    <a:pt x="52552" y="2413000"/>
                  </a:lnTo>
                  <a:cubicBezTo>
                    <a:pt x="38614" y="2413000"/>
                    <a:pt x="25247" y="2407463"/>
                    <a:pt x="15392" y="2397608"/>
                  </a:cubicBezTo>
                  <a:cubicBezTo>
                    <a:pt x="5537" y="2387753"/>
                    <a:pt x="0" y="2374386"/>
                    <a:pt x="0" y="2360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683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MAILBOX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 REG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572750" y="5667375"/>
            <a:ext cx="2762250" cy="1809750"/>
            <a:chOff x="0" y="0"/>
            <a:chExt cx="3683000" cy="2413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8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360448"/>
                  </a:lnTo>
                  <a:cubicBezTo>
                    <a:pt x="3683000" y="2374386"/>
                    <a:pt x="3677463" y="2387753"/>
                    <a:pt x="3667608" y="2397608"/>
                  </a:cubicBezTo>
                  <a:cubicBezTo>
                    <a:pt x="3657753" y="2407463"/>
                    <a:pt x="3644386" y="2413000"/>
                    <a:pt x="3630448" y="2413000"/>
                  </a:cubicBezTo>
                  <a:lnTo>
                    <a:pt x="52552" y="2413000"/>
                  </a:lnTo>
                  <a:cubicBezTo>
                    <a:pt x="38614" y="2413000"/>
                    <a:pt x="25247" y="2407463"/>
                    <a:pt x="15392" y="2397608"/>
                  </a:cubicBezTo>
                  <a:cubicBezTo>
                    <a:pt x="5537" y="2387753"/>
                    <a:pt x="0" y="2374386"/>
                    <a:pt x="0" y="2360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683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UART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TX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01750" y="5667375"/>
            <a:ext cx="2762250" cy="1809750"/>
            <a:chOff x="0" y="0"/>
            <a:chExt cx="3683000" cy="241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8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360448"/>
                  </a:lnTo>
                  <a:cubicBezTo>
                    <a:pt x="3683000" y="2374386"/>
                    <a:pt x="3677463" y="2387753"/>
                    <a:pt x="3667608" y="2397608"/>
                  </a:cubicBezTo>
                  <a:cubicBezTo>
                    <a:pt x="3657753" y="2407463"/>
                    <a:pt x="3644386" y="2413000"/>
                    <a:pt x="3630448" y="2413000"/>
                  </a:cubicBezTo>
                  <a:lnTo>
                    <a:pt x="52552" y="2413000"/>
                  </a:lnTo>
                  <a:cubicBezTo>
                    <a:pt x="38614" y="2413000"/>
                    <a:pt x="25247" y="2407463"/>
                    <a:pt x="15392" y="2397608"/>
                  </a:cubicBezTo>
                  <a:cubicBezTo>
                    <a:pt x="5537" y="2387753"/>
                    <a:pt x="0" y="2374386"/>
                    <a:pt x="0" y="2360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683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GPIO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8 LED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3238500" y="2762250"/>
            <a:ext cx="1762125" cy="66675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3238500" y="6334125"/>
            <a:ext cx="1762125" cy="1428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V="true">
            <a:off x="8620125" y="3333750"/>
            <a:ext cx="1952625" cy="38100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V="true">
            <a:off x="8620125" y="3333750"/>
            <a:ext cx="5381625" cy="104775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8620125" y="5048250"/>
            <a:ext cx="1952625" cy="152400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8620125" y="5715000"/>
            <a:ext cx="5381625" cy="85725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9" id="39"/>
          <p:cNvSpPr txBox="true"/>
          <p:nvPr/>
        </p:nvSpPr>
        <p:spPr>
          <a:xfrm rot="0">
            <a:off x="4953000" y="8543925"/>
            <a:ext cx="1190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5D6D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Different slaves proceed in parallel · same slave uses fair round-robin arbitration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NoC-Inspired Interconnect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2500" y="1781175"/>
            <a:ext cx="34290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2 DECODERS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0" y="1781175"/>
            <a:ext cx="4762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4 PER-SLAVE ARBITERS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01750" y="1781175"/>
            <a:ext cx="3238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RESPONSE MUX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6534150"/>
            <a:ext cx="2857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F4F8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CONTROL FSM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7750" y="2571750"/>
            <a:ext cx="2476500" cy="952500"/>
            <a:chOff x="0" y="0"/>
            <a:chExt cx="3302000" cy="127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58615" y="0"/>
                  </a:moveTo>
                  <a:lnTo>
                    <a:pt x="3243385" y="0"/>
                  </a:lnTo>
                  <a:cubicBezTo>
                    <a:pt x="3275757" y="0"/>
                    <a:pt x="3302000" y="26243"/>
                    <a:pt x="3302000" y="58615"/>
                  </a:cubicBezTo>
                  <a:lnTo>
                    <a:pt x="3302000" y="1211385"/>
                  </a:lnTo>
                  <a:cubicBezTo>
                    <a:pt x="3302000" y="1243757"/>
                    <a:pt x="3275757" y="1270000"/>
                    <a:pt x="3243385" y="1270000"/>
                  </a:cubicBezTo>
                  <a:lnTo>
                    <a:pt x="58615" y="1270000"/>
                  </a:lnTo>
                  <a:cubicBezTo>
                    <a:pt x="26243" y="1270000"/>
                    <a:pt x="0" y="1243757"/>
                    <a:pt x="0" y="1211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02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DECODER M0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7750" y="4095750"/>
            <a:ext cx="2476500" cy="952500"/>
            <a:chOff x="0" y="0"/>
            <a:chExt cx="3302000" cy="127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58615" y="0"/>
                  </a:moveTo>
                  <a:lnTo>
                    <a:pt x="3243385" y="0"/>
                  </a:lnTo>
                  <a:cubicBezTo>
                    <a:pt x="3275757" y="0"/>
                    <a:pt x="3302000" y="26243"/>
                    <a:pt x="3302000" y="58615"/>
                  </a:cubicBezTo>
                  <a:lnTo>
                    <a:pt x="3302000" y="1211385"/>
                  </a:lnTo>
                  <a:cubicBezTo>
                    <a:pt x="3302000" y="1243757"/>
                    <a:pt x="3275757" y="1270000"/>
                    <a:pt x="3243385" y="1270000"/>
                  </a:cubicBezTo>
                  <a:lnTo>
                    <a:pt x="58615" y="1270000"/>
                  </a:lnTo>
                  <a:cubicBezTo>
                    <a:pt x="26243" y="1270000"/>
                    <a:pt x="0" y="1243757"/>
                    <a:pt x="0" y="1211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02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DECODER M1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77000" y="2333625"/>
            <a:ext cx="3810000" cy="685800"/>
            <a:chOff x="0" y="0"/>
            <a:chExt cx="50800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876300"/>
                  </a:lnTo>
                  <a:cubicBezTo>
                    <a:pt x="5080000" y="897342"/>
                    <a:pt x="5062942" y="914400"/>
                    <a:pt x="5041900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080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ARB 0  ·  ROUND ROBIN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7000" y="3333750"/>
            <a:ext cx="3810000" cy="685800"/>
            <a:chOff x="0" y="0"/>
            <a:chExt cx="50800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876300"/>
                  </a:lnTo>
                  <a:cubicBezTo>
                    <a:pt x="5080000" y="897342"/>
                    <a:pt x="5062942" y="914400"/>
                    <a:pt x="5041900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080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ARB 1  ·  ROUND ROBIN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7000" y="4333875"/>
            <a:ext cx="3810000" cy="685800"/>
            <a:chOff x="0" y="0"/>
            <a:chExt cx="50800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876300"/>
                  </a:lnTo>
                  <a:cubicBezTo>
                    <a:pt x="5080000" y="897342"/>
                    <a:pt x="5062942" y="914400"/>
                    <a:pt x="5041900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080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ARB 2  ·  ROUND ROBIN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77000" y="5334000"/>
            <a:ext cx="3810000" cy="685800"/>
            <a:chOff x="0" y="0"/>
            <a:chExt cx="50800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876300"/>
                  </a:lnTo>
                  <a:cubicBezTo>
                    <a:pt x="5080000" y="897342"/>
                    <a:pt x="5062942" y="914400"/>
                    <a:pt x="5041900" y="914400"/>
                  </a:cubicBezTo>
                  <a:lnTo>
                    <a:pt x="38100" y="914400"/>
                  </a:lnTo>
                  <a:cubicBezTo>
                    <a:pt x="17058" y="914400"/>
                    <a:pt x="0" y="897342"/>
                    <a:pt x="0" y="8763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080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ARB 3  ·  ROUND ROBIN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906500" y="3143250"/>
            <a:ext cx="3048000" cy="1428750"/>
            <a:chOff x="0" y="0"/>
            <a:chExt cx="4064000" cy="190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6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064000">
                  <a:moveTo>
                    <a:pt x="47625" y="0"/>
                  </a:moveTo>
                  <a:lnTo>
                    <a:pt x="4016375" y="0"/>
                  </a:lnTo>
                  <a:cubicBezTo>
                    <a:pt x="4042678" y="0"/>
                    <a:pt x="4064000" y="21322"/>
                    <a:pt x="4064000" y="47625"/>
                  </a:cubicBezTo>
                  <a:lnTo>
                    <a:pt x="4064000" y="1857375"/>
                  </a:lnTo>
                  <a:cubicBezTo>
                    <a:pt x="4064000" y="1883678"/>
                    <a:pt x="4042678" y="1905000"/>
                    <a:pt x="4016375" y="1905000"/>
                  </a:cubicBezTo>
                  <a:lnTo>
                    <a:pt x="47625" y="1905000"/>
                  </a:lnTo>
                  <a:cubicBezTo>
                    <a:pt x="21322" y="1905000"/>
                    <a:pt x="0" y="1883678"/>
                    <a:pt x="0" y="18573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06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RSP MUX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M0 / M1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3524250" y="2857500"/>
            <a:ext cx="2952750" cy="19050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3524250" y="4572000"/>
            <a:ext cx="2952750" cy="76200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V="true">
            <a:off x="10287000" y="3857625"/>
            <a:ext cx="3619500" cy="4762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952500" y="7524750"/>
            <a:ext cx="2286000" cy="781050"/>
            <a:chOff x="0" y="0"/>
            <a:chExt cx="3048000" cy="1041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977900"/>
                  </a:lnTo>
                  <a:cubicBezTo>
                    <a:pt x="3048000" y="1012970"/>
                    <a:pt x="3019570" y="1041400"/>
                    <a:pt x="2984500" y="1041400"/>
                  </a:cubicBezTo>
                  <a:lnTo>
                    <a:pt x="63500" y="1041400"/>
                  </a:lnTo>
                  <a:cubicBezTo>
                    <a:pt x="28430" y="1041400"/>
                    <a:pt x="0" y="1012970"/>
                    <a:pt x="0" y="977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048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IDLE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3238500" y="7915275"/>
            <a:ext cx="1000125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4286250" y="7524750"/>
            <a:ext cx="2286000" cy="781050"/>
            <a:chOff x="0" y="0"/>
            <a:chExt cx="3048000" cy="1041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48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977900"/>
                  </a:lnTo>
                  <a:cubicBezTo>
                    <a:pt x="3048000" y="1012970"/>
                    <a:pt x="3019570" y="1041400"/>
                    <a:pt x="2984500" y="1041400"/>
                  </a:cubicBezTo>
                  <a:lnTo>
                    <a:pt x="63500" y="1041400"/>
                  </a:lnTo>
                  <a:cubicBezTo>
                    <a:pt x="28430" y="1041400"/>
                    <a:pt x="0" y="1012970"/>
                    <a:pt x="0" y="977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048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DECODE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6572250" y="7915275"/>
            <a:ext cx="1000125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2" id="42"/>
          <p:cNvGrpSpPr/>
          <p:nvPr/>
        </p:nvGrpSpPr>
        <p:grpSpPr>
          <a:xfrm rot="0">
            <a:off x="7620000" y="7524750"/>
            <a:ext cx="2286000" cy="781050"/>
            <a:chOff x="0" y="0"/>
            <a:chExt cx="3048000" cy="1041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48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977900"/>
                  </a:lnTo>
                  <a:cubicBezTo>
                    <a:pt x="3048000" y="1012970"/>
                    <a:pt x="3019570" y="1041400"/>
                    <a:pt x="2984500" y="1041400"/>
                  </a:cubicBezTo>
                  <a:lnTo>
                    <a:pt x="63500" y="1041400"/>
                  </a:lnTo>
                  <a:cubicBezTo>
                    <a:pt x="28430" y="1041400"/>
                    <a:pt x="0" y="1012970"/>
                    <a:pt x="0" y="977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048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ARBITRATE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9906000" y="7915275"/>
            <a:ext cx="1000125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6" id="46"/>
          <p:cNvGrpSpPr/>
          <p:nvPr/>
        </p:nvGrpSpPr>
        <p:grpSpPr>
          <a:xfrm rot="0">
            <a:off x="10953750" y="7524750"/>
            <a:ext cx="2286000" cy="781050"/>
            <a:chOff x="0" y="0"/>
            <a:chExt cx="3048000" cy="1041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8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977900"/>
                  </a:lnTo>
                  <a:cubicBezTo>
                    <a:pt x="3048000" y="1012970"/>
                    <a:pt x="3019570" y="1041400"/>
                    <a:pt x="2984500" y="1041400"/>
                  </a:cubicBezTo>
                  <a:lnTo>
                    <a:pt x="63500" y="1041400"/>
                  </a:lnTo>
                  <a:cubicBezTo>
                    <a:pt x="28430" y="1041400"/>
                    <a:pt x="0" y="1012970"/>
                    <a:pt x="0" y="977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048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TRANSFER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>
            <a:off x="13239750" y="7915275"/>
            <a:ext cx="1000125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0" id="50"/>
          <p:cNvGrpSpPr/>
          <p:nvPr/>
        </p:nvGrpSpPr>
        <p:grpSpPr>
          <a:xfrm rot="0">
            <a:off x="14287500" y="7524750"/>
            <a:ext cx="2286000" cy="781050"/>
            <a:chOff x="0" y="0"/>
            <a:chExt cx="3048000" cy="1041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48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977900"/>
                  </a:lnTo>
                  <a:cubicBezTo>
                    <a:pt x="3048000" y="1012970"/>
                    <a:pt x="3019570" y="1041400"/>
                    <a:pt x="2984500" y="1041400"/>
                  </a:cubicBezTo>
                  <a:lnTo>
                    <a:pt x="63500" y="1041400"/>
                  </a:lnTo>
                  <a:cubicBezTo>
                    <a:pt x="28430" y="1041400"/>
                    <a:pt x="0" y="1012970"/>
                    <a:pt x="0" y="977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048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RESPONSE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System Address Map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750" y="1704975"/>
            <a:ext cx="15240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36A3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TARGET                 BASE ADDRESS                         SIZE              NOTES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2238375"/>
            <a:ext cx="16573500" cy="876300"/>
            <a:chOff x="0" y="0"/>
            <a:chExt cx="22098000" cy="1168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098000" cy="1168400"/>
              <a:chOff x="0" y="0"/>
              <a:chExt cx="22098000" cy="1168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098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2098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098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54000" y="263525"/>
              <a:ext cx="406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4F8F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PRIVATE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53000" y="282575"/>
              <a:ext cx="5080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0x0000_0000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668000" y="263525"/>
              <a:ext cx="279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 KB ×2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970000" y="263525"/>
              <a:ext cx="7493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IMEM0 / IMEM1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" y="3362325"/>
            <a:ext cx="16573500" cy="876300"/>
            <a:chOff x="0" y="0"/>
            <a:chExt cx="22098000" cy="1168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2098000" cy="1168400"/>
              <a:chOff x="0" y="0"/>
              <a:chExt cx="22098000" cy="1168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098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2098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2098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4000" y="263525"/>
              <a:ext cx="406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4F8F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SRAM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953000" y="282575"/>
              <a:ext cx="5080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0x1000_0000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668000" y="263525"/>
              <a:ext cx="279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8 KB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970000" y="263525"/>
              <a:ext cx="7493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byte · half · word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7250" y="4486275"/>
            <a:ext cx="16573500" cy="876300"/>
            <a:chOff x="0" y="0"/>
            <a:chExt cx="22098000" cy="11684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2098000" cy="1168400"/>
              <a:chOff x="0" y="0"/>
              <a:chExt cx="22098000" cy="1168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2098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2098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2098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54000" y="263525"/>
              <a:ext cx="406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4F8F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MAILBOX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953000" y="282575"/>
              <a:ext cx="5080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0x2000_0000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668000" y="263525"/>
              <a:ext cx="279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256 B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3970000" y="263525"/>
              <a:ext cx="7493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 data + 2 flags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7250" y="5610225"/>
            <a:ext cx="16573500" cy="876300"/>
            <a:chOff x="0" y="0"/>
            <a:chExt cx="22098000" cy="11684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2098000" cy="1168400"/>
              <a:chOff x="0" y="0"/>
              <a:chExt cx="22098000" cy="1168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2098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2098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2098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54000" y="263525"/>
              <a:ext cx="406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4F8F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UART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953000" y="282575"/>
              <a:ext cx="5080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0x3000_0000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0668000" y="263525"/>
              <a:ext cx="279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256 B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3970000" y="263525"/>
              <a:ext cx="7493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TXDATA 00 · STATUS 04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7250" y="6734175"/>
            <a:ext cx="16573500" cy="876300"/>
            <a:chOff x="0" y="0"/>
            <a:chExt cx="22098000" cy="11684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22098000" cy="1168400"/>
              <a:chOff x="0" y="0"/>
              <a:chExt cx="22098000" cy="1168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098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2098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22098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254000" y="263525"/>
              <a:ext cx="406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4F8F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GPIO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953000" y="282575"/>
              <a:ext cx="5080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0x3000_0100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0668000" y="263525"/>
              <a:ext cx="279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256 B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3970000" y="263525"/>
              <a:ext cx="7493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GPIO_LED · 8 outputs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7250" y="7858125"/>
            <a:ext cx="16573500" cy="876300"/>
            <a:chOff x="0" y="0"/>
            <a:chExt cx="22098000" cy="11684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22098000" cy="1168400"/>
              <a:chOff x="0" y="0"/>
              <a:chExt cx="22098000" cy="1168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2098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22098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22098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254000" y="263525"/>
              <a:ext cx="406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F4F8F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UNMAPPED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953000" y="282575"/>
              <a:ext cx="5080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0668000" y="263525"/>
              <a:ext cx="279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—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3970000" y="263525"/>
              <a:ext cx="7493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HRESP_ERROR · 0 wait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RTL Design &amp; Hierarchy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239000" y="1619250"/>
            <a:ext cx="3810000" cy="809625"/>
            <a:chOff x="0" y="0"/>
            <a:chExt cx="5080000" cy="1079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80000" cy="1079500"/>
            </a:xfrm>
            <a:custGeom>
              <a:avLst/>
              <a:gdLst/>
              <a:ahLst/>
              <a:cxnLst/>
              <a:rect r="r" b="b" t="t" l="l"/>
              <a:pathLst>
                <a:path h="10795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1041400"/>
                  </a:lnTo>
                  <a:cubicBezTo>
                    <a:pt x="5080000" y="1062442"/>
                    <a:pt x="5062942" y="1079500"/>
                    <a:pt x="5041900" y="1079500"/>
                  </a:cubicBezTo>
                  <a:lnTo>
                    <a:pt x="38100" y="1079500"/>
                  </a:lnTo>
                  <a:cubicBezTo>
                    <a:pt x="17058" y="1079500"/>
                    <a:pt x="0" y="1062442"/>
                    <a:pt x="0" y="1041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080000" cy="1127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soc_top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3714750"/>
            <a:ext cx="4953000" cy="904875"/>
            <a:chOff x="0" y="0"/>
            <a:chExt cx="6604000" cy="1206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1177192"/>
                  </a:lnTo>
                  <a:cubicBezTo>
                    <a:pt x="6604000" y="1193379"/>
                    <a:pt x="6590878" y="1206500"/>
                    <a:pt x="6574692" y="1206500"/>
                  </a:cubicBezTo>
                  <a:lnTo>
                    <a:pt x="29308" y="1206500"/>
                  </a:lnTo>
                  <a:cubicBezTo>
                    <a:pt x="13122" y="1206500"/>
                    <a:pt x="0" y="1193379"/>
                    <a:pt x="0" y="11771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0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rv32i_core ×2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H="true">
            <a:off x="3333750" y="2428875"/>
            <a:ext cx="5810250" cy="12858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6667500" y="3714750"/>
            <a:ext cx="4953000" cy="904875"/>
            <a:chOff x="0" y="0"/>
            <a:chExt cx="6604000" cy="120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1177192"/>
                  </a:lnTo>
                  <a:cubicBezTo>
                    <a:pt x="6604000" y="1193379"/>
                    <a:pt x="6590878" y="1206500"/>
                    <a:pt x="6574692" y="1206500"/>
                  </a:cubicBezTo>
                  <a:lnTo>
                    <a:pt x="29308" y="1206500"/>
                  </a:lnTo>
                  <a:cubicBezTo>
                    <a:pt x="13122" y="1206500"/>
                    <a:pt x="0" y="1193379"/>
                    <a:pt x="0" y="11771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imem ×2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144000" y="2428875"/>
            <a:ext cx="0" cy="12858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2477750" y="3714750"/>
            <a:ext cx="4953000" cy="904875"/>
            <a:chOff x="0" y="0"/>
            <a:chExt cx="6604000" cy="1206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1177192"/>
                  </a:lnTo>
                  <a:cubicBezTo>
                    <a:pt x="6604000" y="1193379"/>
                    <a:pt x="6590878" y="1206500"/>
                    <a:pt x="6574692" y="1206500"/>
                  </a:cubicBezTo>
                  <a:lnTo>
                    <a:pt x="29308" y="1206500"/>
                  </a:lnTo>
                  <a:cubicBezTo>
                    <a:pt x="13122" y="1206500"/>
                    <a:pt x="0" y="1193379"/>
                    <a:pt x="0" y="11771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0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noc_interconnect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9144000" y="2428875"/>
            <a:ext cx="5810250" cy="12858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857250" y="6572250"/>
            <a:ext cx="4953000" cy="904875"/>
            <a:chOff x="0" y="0"/>
            <a:chExt cx="6604000" cy="1206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1177192"/>
                  </a:lnTo>
                  <a:cubicBezTo>
                    <a:pt x="6604000" y="1193379"/>
                    <a:pt x="6590878" y="1206500"/>
                    <a:pt x="6574692" y="1206500"/>
                  </a:cubicBezTo>
                  <a:lnTo>
                    <a:pt x="29308" y="1206500"/>
                  </a:lnTo>
                  <a:cubicBezTo>
                    <a:pt x="13122" y="1206500"/>
                    <a:pt x="0" y="1193379"/>
                    <a:pt x="0" y="11771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60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shared_dmem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H="true">
            <a:off x="3333750" y="2428875"/>
            <a:ext cx="5810250" cy="41433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6667500" y="6572250"/>
            <a:ext cx="4953000" cy="904875"/>
            <a:chOff x="0" y="0"/>
            <a:chExt cx="6604000" cy="1206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1177192"/>
                  </a:lnTo>
                  <a:cubicBezTo>
                    <a:pt x="6604000" y="1193379"/>
                    <a:pt x="6590878" y="1206500"/>
                    <a:pt x="6574692" y="1206500"/>
                  </a:cubicBezTo>
                  <a:lnTo>
                    <a:pt x="29308" y="1206500"/>
                  </a:lnTo>
                  <a:cubicBezTo>
                    <a:pt x="13122" y="1206500"/>
                    <a:pt x="0" y="1193379"/>
                    <a:pt x="0" y="11771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60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ic_mailbox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9144000" y="2428875"/>
            <a:ext cx="0" cy="41433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2477750" y="6572250"/>
            <a:ext cx="4953000" cy="904875"/>
            <a:chOff x="0" y="0"/>
            <a:chExt cx="6604000" cy="1206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1177192"/>
                  </a:lnTo>
                  <a:cubicBezTo>
                    <a:pt x="6604000" y="1193379"/>
                    <a:pt x="6590878" y="1206500"/>
                    <a:pt x="6574692" y="1206500"/>
                  </a:cubicBezTo>
                  <a:lnTo>
                    <a:pt x="29308" y="1206500"/>
                  </a:lnTo>
                  <a:cubicBezTo>
                    <a:pt x="13122" y="1206500"/>
                    <a:pt x="0" y="1193379"/>
                    <a:pt x="0" y="11771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0D1C2E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60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uart + gpio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9144000" y="2428875"/>
            <a:ext cx="5810250" cy="414337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3" id="33"/>
          <p:cNvSpPr txBox="true"/>
          <p:nvPr/>
        </p:nvSpPr>
        <p:spPr>
          <a:xfrm rot="0">
            <a:off x="1123950" y="4876800"/>
            <a:ext cx="4476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decoder · regfile · ALU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34200" y="4876800"/>
            <a:ext cx="4476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private instruction ROM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44450" y="4876800"/>
            <a:ext cx="4476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2 decoders · 4 arbiters · mux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3950" y="7734300"/>
            <a:ext cx="4476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8 KB · byte/half/word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34200" y="7734300"/>
            <a:ext cx="4476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2 data · 2 flag registers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44450" y="7734300"/>
            <a:ext cx="44767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EB2C8"/>
                </a:solidFill>
                <a:latin typeface="IBM Plex Sans"/>
                <a:ea typeface="IBM Plex Sans"/>
                <a:cs typeface="IBM Plex Sans"/>
                <a:sym typeface="IBM Plex Sans"/>
              </a:rPr>
              <a:t>TX FSM · LED register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72000" y="9229725"/>
            <a:ext cx="95250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Synthesizable Verilog · IEEE 1364-2005 · shared rv32i_soc_defines.v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AHB-Lite-Inspired Bus Protocol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809750"/>
            <a:ext cx="3810000" cy="1238250"/>
            <a:chOff x="0" y="0"/>
            <a:chExt cx="5080000" cy="1651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haddr[31:0]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byte address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00625" y="1809750"/>
            <a:ext cx="3810000" cy="1238250"/>
            <a:chOff x="0" y="0"/>
            <a:chExt cx="5080000" cy="1651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hwrite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 write · 0 read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1809750"/>
            <a:ext cx="3810000" cy="1238250"/>
            <a:chOff x="0" y="0"/>
            <a:chExt cx="5080000" cy="1651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hsize[1:0]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byte · half · word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287375" y="1809750"/>
            <a:ext cx="3810000" cy="1238250"/>
            <a:chOff x="0" y="0"/>
            <a:chExt cx="5080000" cy="1651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hwdata[31:0]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write payload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7250" y="3429000"/>
            <a:ext cx="3810000" cy="1238250"/>
            <a:chOff x="0" y="0"/>
            <a:chExt cx="5080000" cy="1651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hvalid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held until hready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00625" y="3429000"/>
            <a:ext cx="3810000" cy="1238250"/>
            <a:chOff x="0" y="0"/>
            <a:chExt cx="5080000" cy="1651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hrdata[31:0]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read response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0" y="3429000"/>
            <a:ext cx="3810000" cy="1238250"/>
            <a:chOff x="0" y="0"/>
            <a:chExt cx="5080000" cy="1651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hready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complete this cycle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87375" y="3429000"/>
            <a:ext cx="3810000" cy="1238250"/>
            <a:chOff x="0" y="0"/>
            <a:chExt cx="5080000" cy="1651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90500" y="190500"/>
              <a:ext cx="4699000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hresp</a:t>
              </a:r>
            </a:p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55D6D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OKAY / ERROR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2500" y="6381750"/>
            <a:ext cx="3238500" cy="1047750"/>
            <a:chOff x="0" y="0"/>
            <a:chExt cx="4318000" cy="1397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44824" y="0"/>
                  </a:moveTo>
                  <a:lnTo>
                    <a:pt x="4273176" y="0"/>
                  </a:lnTo>
                  <a:cubicBezTo>
                    <a:pt x="4285064" y="0"/>
                    <a:pt x="4296465" y="4722"/>
                    <a:pt x="4304871" y="13129"/>
                  </a:cubicBezTo>
                  <a:cubicBezTo>
                    <a:pt x="4313277" y="21535"/>
                    <a:pt x="4318000" y="32936"/>
                    <a:pt x="4318000" y="44824"/>
                  </a:cubicBezTo>
                  <a:lnTo>
                    <a:pt x="4318000" y="1352176"/>
                  </a:lnTo>
                  <a:cubicBezTo>
                    <a:pt x="4318000" y="1364064"/>
                    <a:pt x="4313277" y="1375465"/>
                    <a:pt x="4304871" y="1383872"/>
                  </a:cubicBezTo>
                  <a:cubicBezTo>
                    <a:pt x="4296465" y="1392278"/>
                    <a:pt x="4285064" y="1397000"/>
                    <a:pt x="4273176" y="1397000"/>
                  </a:cubicBezTo>
                  <a:lnTo>
                    <a:pt x="44824" y="1397000"/>
                  </a:lnTo>
                  <a:cubicBezTo>
                    <a:pt x="32936" y="1397000"/>
                    <a:pt x="21535" y="1392278"/>
                    <a:pt x="13129" y="1383872"/>
                  </a:cubicBezTo>
                  <a:cubicBezTo>
                    <a:pt x="4722" y="1375465"/>
                    <a:pt x="0" y="1364064"/>
                    <a:pt x="0" y="1352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REQUEST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>
            <a:off x="4191000" y="6905625"/>
            <a:ext cx="104775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0" id="50"/>
          <p:cNvGrpSpPr/>
          <p:nvPr/>
        </p:nvGrpSpPr>
        <p:grpSpPr>
          <a:xfrm rot="0">
            <a:off x="5238750" y="6381750"/>
            <a:ext cx="3238500" cy="1047750"/>
            <a:chOff x="0" y="0"/>
            <a:chExt cx="4318000" cy="1397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44824" y="0"/>
                  </a:moveTo>
                  <a:lnTo>
                    <a:pt x="4273176" y="0"/>
                  </a:lnTo>
                  <a:cubicBezTo>
                    <a:pt x="4285064" y="0"/>
                    <a:pt x="4296465" y="4722"/>
                    <a:pt x="4304871" y="13129"/>
                  </a:cubicBezTo>
                  <a:cubicBezTo>
                    <a:pt x="4313277" y="21535"/>
                    <a:pt x="4318000" y="32936"/>
                    <a:pt x="4318000" y="44824"/>
                  </a:cubicBezTo>
                  <a:lnTo>
                    <a:pt x="4318000" y="1352176"/>
                  </a:lnTo>
                  <a:cubicBezTo>
                    <a:pt x="4318000" y="1364064"/>
                    <a:pt x="4313277" y="1375465"/>
                    <a:pt x="4304871" y="1383872"/>
                  </a:cubicBezTo>
                  <a:cubicBezTo>
                    <a:pt x="4296465" y="1392278"/>
                    <a:pt x="4285064" y="1397000"/>
                    <a:pt x="4273176" y="1397000"/>
                  </a:cubicBezTo>
                  <a:lnTo>
                    <a:pt x="44824" y="1397000"/>
                  </a:lnTo>
                  <a:cubicBezTo>
                    <a:pt x="32936" y="1397000"/>
                    <a:pt x="21535" y="1392278"/>
                    <a:pt x="13129" y="1383872"/>
                  </a:cubicBezTo>
                  <a:cubicBezTo>
                    <a:pt x="4722" y="1375465"/>
                    <a:pt x="0" y="1364064"/>
                    <a:pt x="0" y="1352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DECODE / ARBITRATE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8477250" y="6905625"/>
            <a:ext cx="104775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4" id="54"/>
          <p:cNvGrpSpPr/>
          <p:nvPr/>
        </p:nvGrpSpPr>
        <p:grpSpPr>
          <a:xfrm rot="0">
            <a:off x="9525000" y="6381750"/>
            <a:ext cx="3238500" cy="1047750"/>
            <a:chOff x="0" y="0"/>
            <a:chExt cx="4318000" cy="1397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44824" y="0"/>
                  </a:moveTo>
                  <a:lnTo>
                    <a:pt x="4273176" y="0"/>
                  </a:lnTo>
                  <a:cubicBezTo>
                    <a:pt x="4285064" y="0"/>
                    <a:pt x="4296465" y="4722"/>
                    <a:pt x="4304871" y="13129"/>
                  </a:cubicBezTo>
                  <a:cubicBezTo>
                    <a:pt x="4313277" y="21535"/>
                    <a:pt x="4318000" y="32936"/>
                    <a:pt x="4318000" y="44824"/>
                  </a:cubicBezTo>
                  <a:lnTo>
                    <a:pt x="4318000" y="1352176"/>
                  </a:lnTo>
                  <a:cubicBezTo>
                    <a:pt x="4318000" y="1364064"/>
                    <a:pt x="4313277" y="1375465"/>
                    <a:pt x="4304871" y="1383872"/>
                  </a:cubicBezTo>
                  <a:cubicBezTo>
                    <a:pt x="4296465" y="1392278"/>
                    <a:pt x="4285064" y="1397000"/>
                    <a:pt x="4273176" y="1397000"/>
                  </a:cubicBezTo>
                  <a:lnTo>
                    <a:pt x="44824" y="1397000"/>
                  </a:lnTo>
                  <a:cubicBezTo>
                    <a:pt x="32936" y="1397000"/>
                    <a:pt x="21535" y="1392278"/>
                    <a:pt x="13129" y="1383872"/>
                  </a:cubicBezTo>
                  <a:cubicBezTo>
                    <a:pt x="4722" y="1375465"/>
                    <a:pt x="0" y="1364064"/>
                    <a:pt x="0" y="1352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TRANSFER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>
            <a:off x="12763500" y="6905625"/>
            <a:ext cx="104775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8" id="58"/>
          <p:cNvGrpSpPr/>
          <p:nvPr/>
        </p:nvGrpSpPr>
        <p:grpSpPr>
          <a:xfrm rot="0">
            <a:off x="13811250" y="6381750"/>
            <a:ext cx="3238500" cy="1047750"/>
            <a:chOff x="0" y="0"/>
            <a:chExt cx="4318000" cy="1397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44824" y="0"/>
                  </a:moveTo>
                  <a:lnTo>
                    <a:pt x="4273176" y="0"/>
                  </a:lnTo>
                  <a:cubicBezTo>
                    <a:pt x="4285064" y="0"/>
                    <a:pt x="4296465" y="4722"/>
                    <a:pt x="4304871" y="13129"/>
                  </a:cubicBezTo>
                  <a:cubicBezTo>
                    <a:pt x="4313277" y="21535"/>
                    <a:pt x="4318000" y="32936"/>
                    <a:pt x="4318000" y="44824"/>
                  </a:cubicBezTo>
                  <a:lnTo>
                    <a:pt x="4318000" y="1352176"/>
                  </a:lnTo>
                  <a:cubicBezTo>
                    <a:pt x="4318000" y="1364064"/>
                    <a:pt x="4313277" y="1375465"/>
                    <a:pt x="4304871" y="1383872"/>
                  </a:cubicBezTo>
                  <a:cubicBezTo>
                    <a:pt x="4296465" y="1392278"/>
                    <a:pt x="4285064" y="1397000"/>
                    <a:pt x="4273176" y="1397000"/>
                  </a:cubicBezTo>
                  <a:lnTo>
                    <a:pt x="44824" y="1397000"/>
                  </a:lnTo>
                  <a:cubicBezTo>
                    <a:pt x="32936" y="1397000"/>
                    <a:pt x="21535" y="1392278"/>
                    <a:pt x="13129" y="1383872"/>
                  </a:cubicBezTo>
                  <a:cubicBezTo>
                    <a:pt x="4722" y="1375465"/>
                    <a:pt x="0" y="1364064"/>
                    <a:pt x="0" y="1352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HREADY / RESPONSE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4095750" y="8305800"/>
            <a:ext cx="1009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55D6D2"/>
                </a:solidFill>
                <a:latin typeface="IBM Plex Sans"/>
                <a:ea typeface="IBM Plex Sans"/>
                <a:cs typeface="IBM Plex Sans"/>
                <a:sym typeface="IBM Plex Sans"/>
              </a:rPr>
              <a:t>hvalid and request fields remain stable throughout wait cycles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Verification Strategy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62000" y="1952625"/>
            <a:ext cx="2333625" cy="857250"/>
            <a:chOff x="0" y="0"/>
            <a:chExt cx="31115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11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080796"/>
                  </a:lnTo>
                  <a:cubicBezTo>
                    <a:pt x="3111500" y="1097293"/>
                    <a:pt x="3104946" y="1113115"/>
                    <a:pt x="3093281" y="1124781"/>
                  </a:cubicBezTo>
                  <a:cubicBezTo>
                    <a:pt x="3081615" y="1136446"/>
                    <a:pt x="3065793" y="1143000"/>
                    <a:pt x="3049296" y="1143000"/>
                  </a:cubicBezTo>
                  <a:lnTo>
                    <a:pt x="62204" y="1143000"/>
                  </a:lnTo>
                  <a:cubicBezTo>
                    <a:pt x="45707" y="1143000"/>
                    <a:pt x="29885" y="1136446"/>
                    <a:pt x="18219" y="1124781"/>
                  </a:cubicBezTo>
                  <a:cubicBezTo>
                    <a:pt x="6554" y="1113115"/>
                    <a:pt x="0" y="1097293"/>
                    <a:pt x="0" y="1080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1115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RTL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095625" y="2381250"/>
            <a:ext cx="5715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3667125" y="1952625"/>
            <a:ext cx="2333625" cy="857250"/>
            <a:chOff x="0" y="0"/>
            <a:chExt cx="31115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11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080796"/>
                  </a:lnTo>
                  <a:cubicBezTo>
                    <a:pt x="3111500" y="1097293"/>
                    <a:pt x="3104946" y="1113115"/>
                    <a:pt x="3093281" y="1124781"/>
                  </a:cubicBezTo>
                  <a:cubicBezTo>
                    <a:pt x="3081615" y="1136446"/>
                    <a:pt x="3065793" y="1143000"/>
                    <a:pt x="3049296" y="1143000"/>
                  </a:cubicBezTo>
                  <a:lnTo>
                    <a:pt x="62204" y="1143000"/>
                  </a:lnTo>
                  <a:cubicBezTo>
                    <a:pt x="45707" y="1143000"/>
                    <a:pt x="29885" y="1136446"/>
                    <a:pt x="18219" y="1124781"/>
                  </a:cubicBezTo>
                  <a:cubicBezTo>
                    <a:pt x="6554" y="1113115"/>
                    <a:pt x="0" y="1097293"/>
                    <a:pt x="0" y="1080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1115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DIRECTED TB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000750" y="2381250"/>
            <a:ext cx="5715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6572250" y="1952625"/>
            <a:ext cx="2333625" cy="857250"/>
            <a:chOff x="0" y="0"/>
            <a:chExt cx="3111500" cy="114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11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080796"/>
                  </a:lnTo>
                  <a:cubicBezTo>
                    <a:pt x="3111500" y="1097293"/>
                    <a:pt x="3104946" y="1113115"/>
                    <a:pt x="3093281" y="1124781"/>
                  </a:cubicBezTo>
                  <a:cubicBezTo>
                    <a:pt x="3081615" y="1136446"/>
                    <a:pt x="3065793" y="1143000"/>
                    <a:pt x="3049296" y="1143000"/>
                  </a:cubicBezTo>
                  <a:lnTo>
                    <a:pt x="62204" y="1143000"/>
                  </a:lnTo>
                  <a:cubicBezTo>
                    <a:pt x="45707" y="1143000"/>
                    <a:pt x="29885" y="1136446"/>
                    <a:pt x="18219" y="1124781"/>
                  </a:cubicBezTo>
                  <a:cubicBezTo>
                    <a:pt x="6554" y="1113115"/>
                    <a:pt x="0" y="1097293"/>
                    <a:pt x="0" y="1080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1115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UVM ENV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905875" y="2381250"/>
            <a:ext cx="5715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477375" y="1952625"/>
            <a:ext cx="2333625" cy="857250"/>
            <a:chOff x="0" y="0"/>
            <a:chExt cx="31115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080796"/>
                  </a:lnTo>
                  <a:cubicBezTo>
                    <a:pt x="3111500" y="1097293"/>
                    <a:pt x="3104946" y="1113115"/>
                    <a:pt x="3093281" y="1124781"/>
                  </a:cubicBezTo>
                  <a:cubicBezTo>
                    <a:pt x="3081615" y="1136446"/>
                    <a:pt x="3065793" y="1143000"/>
                    <a:pt x="3049296" y="1143000"/>
                  </a:cubicBezTo>
                  <a:lnTo>
                    <a:pt x="62204" y="1143000"/>
                  </a:lnTo>
                  <a:cubicBezTo>
                    <a:pt x="45707" y="1143000"/>
                    <a:pt x="29885" y="1136446"/>
                    <a:pt x="18219" y="1124781"/>
                  </a:cubicBezTo>
                  <a:cubicBezTo>
                    <a:pt x="6554" y="1113115"/>
                    <a:pt x="0" y="1097293"/>
                    <a:pt x="0" y="1080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1115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SCOREBOARD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811000" y="2381250"/>
            <a:ext cx="5715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2382500" y="1952625"/>
            <a:ext cx="2333625" cy="857250"/>
            <a:chOff x="0" y="0"/>
            <a:chExt cx="31115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11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080796"/>
                  </a:lnTo>
                  <a:cubicBezTo>
                    <a:pt x="3111500" y="1097293"/>
                    <a:pt x="3104946" y="1113115"/>
                    <a:pt x="3093281" y="1124781"/>
                  </a:cubicBezTo>
                  <a:cubicBezTo>
                    <a:pt x="3081615" y="1136446"/>
                    <a:pt x="3065793" y="1143000"/>
                    <a:pt x="3049296" y="1143000"/>
                  </a:cubicBezTo>
                  <a:lnTo>
                    <a:pt x="62204" y="1143000"/>
                  </a:lnTo>
                  <a:cubicBezTo>
                    <a:pt x="45707" y="1143000"/>
                    <a:pt x="29885" y="1136446"/>
                    <a:pt x="18219" y="1124781"/>
                  </a:cubicBezTo>
                  <a:cubicBezTo>
                    <a:pt x="6554" y="1113115"/>
                    <a:pt x="0" y="1097293"/>
                    <a:pt x="0" y="1080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1115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COVERAGE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716125" y="2381250"/>
            <a:ext cx="5715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5287625" y="1952625"/>
            <a:ext cx="2333625" cy="857250"/>
            <a:chOff x="0" y="0"/>
            <a:chExt cx="311150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11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080796"/>
                  </a:lnTo>
                  <a:cubicBezTo>
                    <a:pt x="3111500" y="1097293"/>
                    <a:pt x="3104946" y="1113115"/>
                    <a:pt x="3093281" y="1124781"/>
                  </a:cubicBezTo>
                  <a:cubicBezTo>
                    <a:pt x="3081615" y="1136446"/>
                    <a:pt x="3065793" y="1143000"/>
                    <a:pt x="3049296" y="1143000"/>
                  </a:cubicBezTo>
                  <a:lnTo>
                    <a:pt x="62204" y="1143000"/>
                  </a:lnTo>
                  <a:cubicBezTo>
                    <a:pt x="45707" y="1143000"/>
                    <a:pt x="29885" y="1136446"/>
                    <a:pt x="18219" y="1124781"/>
                  </a:cubicBezTo>
                  <a:cubicBezTo>
                    <a:pt x="6554" y="1113115"/>
                    <a:pt x="0" y="1097293"/>
                    <a:pt x="0" y="1080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111500" cy="117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SVA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4875" y="4191000"/>
            <a:ext cx="3714750" cy="1143000"/>
            <a:chOff x="0" y="0"/>
            <a:chExt cx="4953000" cy="1524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Reset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00625" y="4191000"/>
            <a:ext cx="3714750" cy="1143000"/>
            <a:chOff x="0" y="0"/>
            <a:chExt cx="4953000" cy="1524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Arbitration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96375" y="4191000"/>
            <a:ext cx="3714750" cy="1143000"/>
            <a:chOff x="0" y="0"/>
            <a:chExt cx="4953000" cy="15240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Mailbox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92125" y="4191000"/>
            <a:ext cx="3714750" cy="1143000"/>
            <a:chOff x="0" y="0"/>
            <a:chExt cx="4953000" cy="15240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UART TX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4875" y="5810250"/>
            <a:ext cx="3714750" cy="1143000"/>
            <a:chOff x="0" y="0"/>
            <a:chExt cx="4953000" cy="1524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GPIO / LED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000625" y="5810250"/>
            <a:ext cx="3714750" cy="1143000"/>
            <a:chOff x="0" y="0"/>
            <a:chExt cx="4953000" cy="15240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Unmapped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96375" y="5810250"/>
            <a:ext cx="3714750" cy="1143000"/>
            <a:chOff x="0" y="0"/>
            <a:chExt cx="4953000" cy="152400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Back-to-back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192125" y="5810250"/>
            <a:ext cx="3714750" cy="1143000"/>
            <a:chOff x="0" y="0"/>
            <a:chExt cx="4953000" cy="1524000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4953000" cy="1524000"/>
              <a:chOff x="0" y="0"/>
              <a:chExt cx="4953000" cy="1524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953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4953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8" id="68"/>
            <p:cNvSpPr txBox="true"/>
            <p:nvPr/>
          </p:nvSpPr>
          <p:spPr>
            <a:xfrm rot="0">
              <a:off x="317500" y="279400"/>
              <a:ext cx="4445000" cy="422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✓  Parallel routing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190750" y="8067675"/>
            <a:ext cx="1390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55D6D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Directed masters bypass cores for precise timing · UVM mirrors scenarios and round-robin flips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UVM-1.1 Architecture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0" y="1571625"/>
            <a:ext cx="4953000" cy="762000"/>
            <a:chOff x="0" y="0"/>
            <a:chExt cx="6604000" cy="10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6604000">
                  <a:moveTo>
                    <a:pt x="29308" y="0"/>
                  </a:moveTo>
                  <a:lnTo>
                    <a:pt x="6574692" y="0"/>
                  </a:lnTo>
                  <a:cubicBezTo>
                    <a:pt x="6590878" y="0"/>
                    <a:pt x="6604000" y="13122"/>
                    <a:pt x="6604000" y="29308"/>
                  </a:cubicBezTo>
                  <a:lnTo>
                    <a:pt x="6604000" y="986692"/>
                  </a:lnTo>
                  <a:cubicBezTo>
                    <a:pt x="6604000" y="1002879"/>
                    <a:pt x="6590878" y="1016000"/>
                    <a:pt x="6574692" y="1016000"/>
                  </a:cubicBezTo>
                  <a:lnTo>
                    <a:pt x="29308" y="1016000"/>
                  </a:lnTo>
                  <a:cubicBezTo>
                    <a:pt x="13122" y="1016000"/>
                    <a:pt x="0" y="1002879"/>
                    <a:pt x="0" y="986692"/>
                  </a:cubicBezTo>
                  <a:lnTo>
                    <a:pt x="0" y="29308"/>
                  </a:lnTo>
                  <a:cubicBezTo>
                    <a:pt x="0" y="13122"/>
                    <a:pt x="13122" y="0"/>
                    <a:pt x="29308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0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ahb_base_test · 9 sequences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8250" y="3143250"/>
            <a:ext cx="6858000" cy="904875"/>
            <a:chOff x="0" y="0"/>
            <a:chExt cx="9144000" cy="1206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144000">
                  <a:moveTo>
                    <a:pt x="21167" y="0"/>
                  </a:moveTo>
                  <a:lnTo>
                    <a:pt x="9122833" y="0"/>
                  </a:lnTo>
                  <a:cubicBezTo>
                    <a:pt x="9134523" y="0"/>
                    <a:pt x="9144000" y="9477"/>
                    <a:pt x="9144000" y="21167"/>
                  </a:cubicBezTo>
                  <a:lnTo>
                    <a:pt x="9144000" y="1185333"/>
                  </a:lnTo>
                  <a:cubicBezTo>
                    <a:pt x="9144000" y="1197023"/>
                    <a:pt x="9134523" y="1206500"/>
                    <a:pt x="9122833" y="1206500"/>
                  </a:cubicBezTo>
                  <a:lnTo>
                    <a:pt x="21167" y="1206500"/>
                  </a:lnTo>
                  <a:cubicBezTo>
                    <a:pt x="9477" y="1206500"/>
                    <a:pt x="0" y="1197023"/>
                    <a:pt x="0" y="11853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UVM_ACTIVE MASTER AGENT 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71625" y="4762500"/>
            <a:ext cx="1714500" cy="762000"/>
            <a:chOff x="0" y="0"/>
            <a:chExt cx="2286000" cy="10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86000">
                  <a:moveTo>
                    <a:pt x="84667" y="0"/>
                  </a:moveTo>
                  <a:lnTo>
                    <a:pt x="2201333" y="0"/>
                  </a:lnTo>
                  <a:cubicBezTo>
                    <a:pt x="2248093" y="0"/>
                    <a:pt x="2286000" y="37907"/>
                    <a:pt x="2286000" y="84667"/>
                  </a:cubicBezTo>
                  <a:lnTo>
                    <a:pt x="2286000" y="931333"/>
                  </a:lnTo>
                  <a:cubicBezTo>
                    <a:pt x="2286000" y="978093"/>
                    <a:pt x="2248093" y="1016000"/>
                    <a:pt x="2201333" y="1016000"/>
                  </a:cubicBezTo>
                  <a:lnTo>
                    <a:pt x="84667" y="1016000"/>
                  </a:lnTo>
                  <a:cubicBezTo>
                    <a:pt x="37907" y="1016000"/>
                    <a:pt x="0" y="978093"/>
                    <a:pt x="0" y="93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286000" cy="103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SEQUENCER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10000" y="4762500"/>
            <a:ext cx="1714500" cy="762000"/>
            <a:chOff x="0" y="0"/>
            <a:chExt cx="2286000" cy="10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86000">
                  <a:moveTo>
                    <a:pt x="84667" y="0"/>
                  </a:moveTo>
                  <a:lnTo>
                    <a:pt x="2201333" y="0"/>
                  </a:lnTo>
                  <a:cubicBezTo>
                    <a:pt x="2248093" y="0"/>
                    <a:pt x="2286000" y="37907"/>
                    <a:pt x="2286000" y="84667"/>
                  </a:cubicBezTo>
                  <a:lnTo>
                    <a:pt x="2286000" y="931333"/>
                  </a:lnTo>
                  <a:cubicBezTo>
                    <a:pt x="2286000" y="978093"/>
                    <a:pt x="2248093" y="1016000"/>
                    <a:pt x="2201333" y="1016000"/>
                  </a:cubicBezTo>
                  <a:lnTo>
                    <a:pt x="84667" y="1016000"/>
                  </a:lnTo>
                  <a:cubicBezTo>
                    <a:pt x="37907" y="1016000"/>
                    <a:pt x="0" y="978093"/>
                    <a:pt x="0" y="93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286000" cy="103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DRIVER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48375" y="4762500"/>
            <a:ext cx="1714500" cy="762000"/>
            <a:chOff x="0" y="0"/>
            <a:chExt cx="2286000" cy="10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86000">
                  <a:moveTo>
                    <a:pt x="84667" y="0"/>
                  </a:moveTo>
                  <a:lnTo>
                    <a:pt x="2201333" y="0"/>
                  </a:lnTo>
                  <a:cubicBezTo>
                    <a:pt x="2248093" y="0"/>
                    <a:pt x="2286000" y="37907"/>
                    <a:pt x="2286000" y="84667"/>
                  </a:cubicBezTo>
                  <a:lnTo>
                    <a:pt x="2286000" y="931333"/>
                  </a:lnTo>
                  <a:cubicBezTo>
                    <a:pt x="2286000" y="978093"/>
                    <a:pt x="2248093" y="1016000"/>
                    <a:pt x="2201333" y="1016000"/>
                  </a:cubicBezTo>
                  <a:lnTo>
                    <a:pt x="84667" y="1016000"/>
                  </a:lnTo>
                  <a:cubicBezTo>
                    <a:pt x="37907" y="1016000"/>
                    <a:pt x="0" y="978093"/>
                    <a:pt x="0" y="93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86000" cy="103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MONITOR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286125" y="5143500"/>
            <a:ext cx="523875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5524500" y="5143500"/>
            <a:ext cx="523875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0191750" y="3143250"/>
            <a:ext cx="6858000" cy="904875"/>
            <a:chOff x="0" y="0"/>
            <a:chExt cx="9144000" cy="1206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144000">
                  <a:moveTo>
                    <a:pt x="21167" y="0"/>
                  </a:moveTo>
                  <a:lnTo>
                    <a:pt x="9122833" y="0"/>
                  </a:lnTo>
                  <a:cubicBezTo>
                    <a:pt x="9134523" y="0"/>
                    <a:pt x="9144000" y="9477"/>
                    <a:pt x="9144000" y="21167"/>
                  </a:cubicBezTo>
                  <a:lnTo>
                    <a:pt x="9144000" y="1185333"/>
                  </a:lnTo>
                  <a:cubicBezTo>
                    <a:pt x="9144000" y="1197023"/>
                    <a:pt x="9134523" y="1206500"/>
                    <a:pt x="9122833" y="1206500"/>
                  </a:cubicBezTo>
                  <a:lnTo>
                    <a:pt x="21167" y="1206500"/>
                  </a:lnTo>
                  <a:cubicBezTo>
                    <a:pt x="9477" y="1206500"/>
                    <a:pt x="0" y="1197023"/>
                    <a:pt x="0" y="11853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UVM_ACTIVE MASTER AGENT 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25125" y="4762500"/>
            <a:ext cx="1714500" cy="762000"/>
            <a:chOff x="0" y="0"/>
            <a:chExt cx="2286000" cy="101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86000">
                  <a:moveTo>
                    <a:pt x="84667" y="0"/>
                  </a:moveTo>
                  <a:lnTo>
                    <a:pt x="2201333" y="0"/>
                  </a:lnTo>
                  <a:cubicBezTo>
                    <a:pt x="2248093" y="0"/>
                    <a:pt x="2286000" y="37907"/>
                    <a:pt x="2286000" y="84667"/>
                  </a:cubicBezTo>
                  <a:lnTo>
                    <a:pt x="2286000" y="931333"/>
                  </a:lnTo>
                  <a:cubicBezTo>
                    <a:pt x="2286000" y="978093"/>
                    <a:pt x="2248093" y="1016000"/>
                    <a:pt x="2201333" y="1016000"/>
                  </a:cubicBezTo>
                  <a:lnTo>
                    <a:pt x="84667" y="1016000"/>
                  </a:lnTo>
                  <a:cubicBezTo>
                    <a:pt x="37907" y="1016000"/>
                    <a:pt x="0" y="978093"/>
                    <a:pt x="0" y="93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286000" cy="103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SEQUENCER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63500" y="4762500"/>
            <a:ext cx="1714500" cy="762000"/>
            <a:chOff x="0" y="0"/>
            <a:chExt cx="2286000" cy="101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86000">
                  <a:moveTo>
                    <a:pt x="84667" y="0"/>
                  </a:moveTo>
                  <a:lnTo>
                    <a:pt x="2201333" y="0"/>
                  </a:lnTo>
                  <a:cubicBezTo>
                    <a:pt x="2248093" y="0"/>
                    <a:pt x="2286000" y="37907"/>
                    <a:pt x="2286000" y="84667"/>
                  </a:cubicBezTo>
                  <a:lnTo>
                    <a:pt x="2286000" y="931333"/>
                  </a:lnTo>
                  <a:cubicBezTo>
                    <a:pt x="2286000" y="978093"/>
                    <a:pt x="2248093" y="1016000"/>
                    <a:pt x="2201333" y="1016000"/>
                  </a:cubicBezTo>
                  <a:lnTo>
                    <a:pt x="84667" y="1016000"/>
                  </a:lnTo>
                  <a:cubicBezTo>
                    <a:pt x="37907" y="1016000"/>
                    <a:pt x="0" y="978093"/>
                    <a:pt x="0" y="93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286000" cy="103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DRIVER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01875" y="4762500"/>
            <a:ext cx="1714500" cy="762000"/>
            <a:chOff x="0" y="0"/>
            <a:chExt cx="2286000" cy="101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86000">
                  <a:moveTo>
                    <a:pt x="84667" y="0"/>
                  </a:moveTo>
                  <a:lnTo>
                    <a:pt x="2201333" y="0"/>
                  </a:lnTo>
                  <a:cubicBezTo>
                    <a:pt x="2248093" y="0"/>
                    <a:pt x="2286000" y="37907"/>
                    <a:pt x="2286000" y="84667"/>
                  </a:cubicBezTo>
                  <a:lnTo>
                    <a:pt x="2286000" y="931333"/>
                  </a:lnTo>
                  <a:cubicBezTo>
                    <a:pt x="2286000" y="978093"/>
                    <a:pt x="2248093" y="1016000"/>
                    <a:pt x="2201333" y="1016000"/>
                  </a:cubicBezTo>
                  <a:lnTo>
                    <a:pt x="84667" y="1016000"/>
                  </a:lnTo>
                  <a:cubicBezTo>
                    <a:pt x="37907" y="1016000"/>
                    <a:pt x="0" y="978093"/>
                    <a:pt x="0" y="931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286000" cy="103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MONITOR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2239625" y="5143500"/>
            <a:ext cx="523875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4478000" y="5143500"/>
            <a:ext cx="523875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3905250" y="7143750"/>
            <a:ext cx="4381500" cy="952500"/>
            <a:chOff x="0" y="0"/>
            <a:chExt cx="5842000" cy="127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4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842000">
                  <a:moveTo>
                    <a:pt x="33130" y="0"/>
                  </a:moveTo>
                  <a:lnTo>
                    <a:pt x="5808869" y="0"/>
                  </a:lnTo>
                  <a:cubicBezTo>
                    <a:pt x="5817656" y="0"/>
                    <a:pt x="5826083" y="3491"/>
                    <a:pt x="5832296" y="9704"/>
                  </a:cubicBezTo>
                  <a:cubicBezTo>
                    <a:pt x="5838510" y="15917"/>
                    <a:pt x="5842000" y="24344"/>
                    <a:pt x="5842000" y="33130"/>
                  </a:cubicBezTo>
                  <a:lnTo>
                    <a:pt x="5842000" y="1236870"/>
                  </a:lnTo>
                  <a:cubicBezTo>
                    <a:pt x="5842000" y="1245656"/>
                    <a:pt x="5838510" y="1254083"/>
                    <a:pt x="5832296" y="1260296"/>
                  </a:cubicBezTo>
                  <a:cubicBezTo>
                    <a:pt x="5826083" y="1266510"/>
                    <a:pt x="5817656" y="1270000"/>
                    <a:pt x="5808869" y="1270000"/>
                  </a:cubicBezTo>
                  <a:lnTo>
                    <a:pt x="33130" y="1270000"/>
                  </a:lnTo>
                  <a:cubicBezTo>
                    <a:pt x="24344" y="1270000"/>
                    <a:pt x="15917" y="1266510"/>
                    <a:pt x="9704" y="1260296"/>
                  </a:cubicBezTo>
                  <a:cubicBezTo>
                    <a:pt x="3491" y="1254083"/>
                    <a:pt x="0" y="1245656"/>
                    <a:pt x="0" y="1236870"/>
                  </a:cubicBezTo>
                  <a:lnTo>
                    <a:pt x="0" y="33130"/>
                  </a:lnTo>
                  <a:cubicBezTo>
                    <a:pt x="0" y="24344"/>
                    <a:pt x="3491" y="15917"/>
                    <a:pt x="9704" y="9704"/>
                  </a:cubicBezTo>
                  <a:cubicBezTo>
                    <a:pt x="15917" y="3491"/>
                    <a:pt x="24344" y="0"/>
                    <a:pt x="33130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842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ahb_scoreboard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01250" y="7143750"/>
            <a:ext cx="4381500" cy="952500"/>
            <a:chOff x="0" y="0"/>
            <a:chExt cx="5842000" cy="127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4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842000">
                  <a:moveTo>
                    <a:pt x="33130" y="0"/>
                  </a:moveTo>
                  <a:lnTo>
                    <a:pt x="5808869" y="0"/>
                  </a:lnTo>
                  <a:cubicBezTo>
                    <a:pt x="5817656" y="0"/>
                    <a:pt x="5826083" y="3491"/>
                    <a:pt x="5832296" y="9704"/>
                  </a:cubicBezTo>
                  <a:cubicBezTo>
                    <a:pt x="5838510" y="15917"/>
                    <a:pt x="5842000" y="24344"/>
                    <a:pt x="5842000" y="33130"/>
                  </a:cubicBezTo>
                  <a:lnTo>
                    <a:pt x="5842000" y="1236870"/>
                  </a:lnTo>
                  <a:cubicBezTo>
                    <a:pt x="5842000" y="1245656"/>
                    <a:pt x="5838510" y="1254083"/>
                    <a:pt x="5832296" y="1260296"/>
                  </a:cubicBezTo>
                  <a:cubicBezTo>
                    <a:pt x="5826083" y="1266510"/>
                    <a:pt x="5817656" y="1270000"/>
                    <a:pt x="5808869" y="1270000"/>
                  </a:cubicBezTo>
                  <a:lnTo>
                    <a:pt x="33130" y="1270000"/>
                  </a:lnTo>
                  <a:cubicBezTo>
                    <a:pt x="24344" y="1270000"/>
                    <a:pt x="15917" y="1266510"/>
                    <a:pt x="9704" y="1260296"/>
                  </a:cubicBezTo>
                  <a:cubicBezTo>
                    <a:pt x="3491" y="1254083"/>
                    <a:pt x="0" y="1245656"/>
                    <a:pt x="0" y="1236870"/>
                  </a:cubicBezTo>
                  <a:lnTo>
                    <a:pt x="0" y="33130"/>
                  </a:lnTo>
                  <a:cubicBezTo>
                    <a:pt x="0" y="24344"/>
                    <a:pt x="3491" y="15917"/>
                    <a:pt x="9704" y="9704"/>
                  </a:cubicBezTo>
                  <a:cubicBezTo>
                    <a:pt x="15917" y="3491"/>
                    <a:pt x="24344" y="0"/>
                    <a:pt x="33130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842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ahb_coverage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flipH="true">
            <a:off x="4667250" y="2333625"/>
            <a:ext cx="3238500" cy="80962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0382250" y="2333625"/>
            <a:ext cx="3238500" cy="809625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5" id="45"/>
          <p:cNvSpPr txBox="true"/>
          <p:nvPr/>
        </p:nvSpPr>
        <p:spPr>
          <a:xfrm rot="0">
            <a:off x="2667000" y="8848725"/>
            <a:ext cx="129540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transaction: addr · write · wdata · size · rdata · resp · wait_cycles · master_id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UVM Results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279721" y="1514900"/>
            <a:ext cx="3044130" cy="2630730"/>
            <a:chOff x="0" y="0"/>
            <a:chExt cx="4058840" cy="350764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058840" cy="3507640"/>
              <a:chOff x="0" y="0"/>
              <a:chExt cx="5143500" cy="444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1435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1435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00655" y="491566"/>
              <a:ext cx="3407422" cy="682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4"/>
                </a:lnSpc>
              </a:pPr>
              <a:r>
                <a:rPr lang="en-US" sz="3314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28/28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00655" y="1694186"/>
              <a:ext cx="3407422" cy="26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27"/>
                </a:lnSpc>
              </a:pPr>
              <a:r>
                <a:rPr lang="en-US" sz="1302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SCOREBOARD CHECKS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00655" y="2285971"/>
              <a:ext cx="3407422" cy="230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en-US" sz="1065">
                  <a:solidFill>
                    <a:srgbClr val="9EB2C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PASS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24506" y="1514900"/>
            <a:ext cx="3044130" cy="2630730"/>
            <a:chOff x="0" y="0"/>
            <a:chExt cx="4058840" cy="350764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058840" cy="3507640"/>
              <a:chOff x="0" y="0"/>
              <a:chExt cx="5143500" cy="4445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1435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1435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00655" y="491566"/>
              <a:ext cx="3407422" cy="682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4"/>
                </a:lnSpc>
              </a:pPr>
              <a:r>
                <a:rPr lang="en-US" sz="3314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100.00%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00655" y="1694186"/>
              <a:ext cx="3407422" cy="26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27"/>
                </a:lnSpc>
              </a:pPr>
              <a:r>
                <a:rPr lang="en-US" sz="1302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FUNCTIONAL COVERAGE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00655" y="2285971"/>
              <a:ext cx="3407422" cy="230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en-US" sz="1065">
                  <a:solidFill>
                    <a:srgbClr val="9EB2C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 CROSS-COVERAGES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69291" y="1514900"/>
            <a:ext cx="3044130" cy="2630730"/>
            <a:chOff x="0" y="0"/>
            <a:chExt cx="4058840" cy="350764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058840" cy="3507640"/>
              <a:chOff x="0" y="0"/>
              <a:chExt cx="5143500" cy="4445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1435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51435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0655" y="491566"/>
              <a:ext cx="3407422" cy="682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4"/>
                </a:lnSpc>
              </a:pPr>
              <a:r>
                <a:rPr lang="en-US" sz="3314" b="true">
                  <a:solidFill>
                    <a:srgbClr val="54D68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00655" y="1694186"/>
              <a:ext cx="3407422" cy="26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27"/>
                </a:lnSpc>
              </a:pPr>
              <a:r>
                <a:rPr lang="en-US" sz="1302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SVA VIOLATIONS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00655" y="2285971"/>
              <a:ext cx="3407422" cy="230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en-US" sz="1065">
                  <a:solidFill>
                    <a:srgbClr val="9EB2C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 PROPERTIES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14076" y="1514900"/>
            <a:ext cx="3044130" cy="2630730"/>
            <a:chOff x="0" y="0"/>
            <a:chExt cx="4058840" cy="350764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058840" cy="3507640"/>
              <a:chOff x="0" y="0"/>
              <a:chExt cx="5143500" cy="444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1435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1435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00655" y="491566"/>
              <a:ext cx="3407422" cy="682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4"/>
                </a:lnSpc>
              </a:pPr>
              <a:r>
                <a:rPr lang="en-US" sz="3314" b="true">
                  <a:solidFill>
                    <a:srgbClr val="54D68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 / 0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00655" y="1694186"/>
              <a:ext cx="3407422" cy="26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27"/>
                </a:lnSpc>
              </a:pPr>
              <a:r>
                <a:rPr lang="en-US" sz="1302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UVM ERROR / FATAL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00655" y="2285971"/>
              <a:ext cx="3407422" cy="230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en-US" sz="1065">
                  <a:solidFill>
                    <a:srgbClr val="9EB2C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CLEAN REPORT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38200" y="5658100"/>
            <a:ext cx="7529525" cy="4410560"/>
          </a:xfrm>
          <a:custGeom>
            <a:avLst/>
            <a:gdLst/>
            <a:ahLst/>
            <a:cxnLst/>
            <a:rect r="r" b="b" t="t" l="l"/>
            <a:pathLst>
              <a:path h="4410560" w="7529525">
                <a:moveTo>
                  <a:pt x="0" y="0"/>
                </a:moveTo>
                <a:lnTo>
                  <a:pt x="7529525" y="0"/>
                </a:lnTo>
                <a:lnTo>
                  <a:pt x="7529525" y="4410561"/>
                </a:lnTo>
                <a:lnTo>
                  <a:pt x="0" y="4410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202060" y="5658100"/>
            <a:ext cx="7529525" cy="4410560"/>
          </a:xfrm>
          <a:custGeom>
            <a:avLst/>
            <a:gdLst/>
            <a:ahLst/>
            <a:cxnLst/>
            <a:rect r="r" b="b" t="t" l="l"/>
            <a:pathLst>
              <a:path h="4410560" w="7529525">
                <a:moveTo>
                  <a:pt x="0" y="0"/>
                </a:moveTo>
                <a:lnTo>
                  <a:pt x="7529525" y="0"/>
                </a:lnTo>
                <a:lnTo>
                  <a:pt x="7529525" y="4410561"/>
                </a:lnTo>
                <a:lnTo>
                  <a:pt x="0" y="4410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867810" y="4175439"/>
            <a:ext cx="1466850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50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reset-clears-valid  ·  no-unknown-address  ·  stable-during-wait  ·  no-indefinite-hang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58560" y="4755511"/>
            <a:ext cx="10287000" cy="55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true">
                <a:solidFill>
                  <a:srgbClr val="54D68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VERIFICATION SIGN-OFF: CLEAN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ASIC Physical Design Flow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09625" y="2381250"/>
            <a:ext cx="2571750" cy="1000125"/>
            <a:chOff x="0" y="0"/>
            <a:chExt cx="3429000" cy="133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RTL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381375" y="2876550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4238625" y="2381250"/>
            <a:ext cx="2571750" cy="1000125"/>
            <a:chOff x="0" y="0"/>
            <a:chExt cx="3429000" cy="133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SYNTH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810375" y="2876550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7667625" y="2381250"/>
            <a:ext cx="2571750" cy="1000125"/>
            <a:chOff x="0" y="0"/>
            <a:chExt cx="3429000" cy="133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FLOORPLAN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239375" y="2876550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096625" y="2381250"/>
            <a:ext cx="2571750" cy="1000125"/>
            <a:chOff x="0" y="0"/>
            <a:chExt cx="3429000" cy="13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PDN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3668375" y="2876550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4525625" y="2381250"/>
            <a:ext cx="2571750" cy="1000125"/>
            <a:chOff x="0" y="0"/>
            <a:chExt cx="3429000" cy="1333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PLACE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8200" y="4143375"/>
            <a:ext cx="2571750" cy="1000125"/>
            <a:chOff x="0" y="0"/>
            <a:chExt cx="3429000" cy="133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CTS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3409950" y="4638675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4267200" y="4143375"/>
            <a:ext cx="2571750" cy="1000125"/>
            <a:chOff x="0" y="0"/>
            <a:chExt cx="3429000" cy="1333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ROUTE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6838950" y="4638675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7696200" y="4143375"/>
            <a:ext cx="2571750" cy="1000125"/>
            <a:chOff x="0" y="0"/>
            <a:chExt cx="3429000" cy="1333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RCX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0267950" y="4638675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1125200" y="4143375"/>
            <a:ext cx="2571750" cy="1000125"/>
            <a:chOff x="0" y="0"/>
            <a:chExt cx="3429000" cy="1333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SIGN-OFF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3696950" y="4638675"/>
            <a:ext cx="857250" cy="0"/>
          </a:xfrm>
          <a:prstGeom prst="line">
            <a:avLst/>
          </a:prstGeom>
          <a:ln cap="rnd" w="28575">
            <a:solidFill>
              <a:srgbClr val="55D6D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1" id="41"/>
          <p:cNvGrpSpPr/>
          <p:nvPr/>
        </p:nvGrpSpPr>
        <p:grpSpPr>
          <a:xfrm rot="0">
            <a:off x="14554200" y="4143375"/>
            <a:ext cx="2571750" cy="1000125"/>
            <a:chOff x="0" y="0"/>
            <a:chExt cx="3429000" cy="1333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277056"/>
                  </a:lnTo>
                  <a:cubicBezTo>
                    <a:pt x="3429000" y="1292026"/>
                    <a:pt x="3423053" y="1306382"/>
                    <a:pt x="3412468" y="1316968"/>
                  </a:cubicBezTo>
                  <a:cubicBezTo>
                    <a:pt x="3401882" y="1327553"/>
                    <a:pt x="3387525" y="1333500"/>
                    <a:pt x="3372555" y="1333500"/>
                  </a:cubicBezTo>
                  <a:lnTo>
                    <a:pt x="56444" y="1333500"/>
                  </a:lnTo>
                  <a:cubicBezTo>
                    <a:pt x="41474" y="1333500"/>
                    <a:pt x="27118" y="1327553"/>
                    <a:pt x="16532" y="1316968"/>
                  </a:cubicBezTo>
                  <a:cubicBezTo>
                    <a:pt x="5947" y="1306382"/>
                    <a:pt x="0" y="1292026"/>
                    <a:pt x="0" y="1277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429000" cy="136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GDSII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2345303" y="5526213"/>
            <a:ext cx="4913997" cy="4369528"/>
          </a:xfrm>
          <a:custGeom>
            <a:avLst/>
            <a:gdLst/>
            <a:ahLst/>
            <a:cxnLst/>
            <a:rect r="r" b="b" t="t" l="l"/>
            <a:pathLst>
              <a:path h="4369528" w="4913997">
                <a:moveTo>
                  <a:pt x="0" y="0"/>
                </a:moveTo>
                <a:lnTo>
                  <a:pt x="4913997" y="0"/>
                </a:lnTo>
                <a:lnTo>
                  <a:pt x="4913997" y="4369528"/>
                </a:lnTo>
                <a:lnTo>
                  <a:pt x="0" y="4369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28700" y="6163654"/>
            <a:ext cx="10793715" cy="3094646"/>
          </a:xfrm>
          <a:custGeom>
            <a:avLst/>
            <a:gdLst/>
            <a:ahLst/>
            <a:cxnLst/>
            <a:rect r="r" b="b" t="t" l="l"/>
            <a:pathLst>
              <a:path h="3094646" w="10793715">
                <a:moveTo>
                  <a:pt x="0" y="0"/>
                </a:moveTo>
                <a:lnTo>
                  <a:pt x="10793715" y="0"/>
                </a:lnTo>
                <a:lnTo>
                  <a:pt x="10793715" y="3094646"/>
                </a:lnTo>
                <a:lnTo>
                  <a:pt x="0" y="3094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5" t="-168592" r="-375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667000" y="1579245"/>
            <a:ext cx="12573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2100" b="true">
                <a:solidFill>
                  <a:srgbClr val="55D6D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OpenLane / LibreLane  ·  SkyWater sky130A  ·  sky130_fd_sc_hd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ASIC Sign-Off Results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000250"/>
            <a:ext cx="3857625" cy="2714625"/>
            <a:chOff x="0" y="0"/>
            <a:chExt cx="5143500" cy="3619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50 MHz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20.0 ns target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95875" y="2000250"/>
            <a:ext cx="3857625" cy="2714625"/>
            <a:chOff x="0" y="0"/>
            <a:chExt cx="5143500" cy="3619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6550.1 µm²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75.75 × 86.47 µm die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34500" y="2000250"/>
            <a:ext cx="3857625" cy="2714625"/>
            <a:chOff x="0" y="0"/>
            <a:chExt cx="5143500" cy="3619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35.7%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core utilisation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73125" y="2000250"/>
            <a:ext cx="3857625" cy="2714625"/>
            <a:chOff x="0" y="0"/>
            <a:chExt cx="5143500" cy="3619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13.73 ns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worst setup slack · MET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7250" y="5476875"/>
            <a:ext cx="3857625" cy="2714625"/>
            <a:chOff x="0" y="0"/>
            <a:chExt cx="5143500" cy="3619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0.107 ns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worst hold slack · MET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95875" y="5476875"/>
            <a:ext cx="3857625" cy="2714625"/>
            <a:chOff x="0" y="0"/>
            <a:chExt cx="5143500" cy="36195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54D68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 / 0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DRC / antenna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34500" y="5476875"/>
            <a:ext cx="3857625" cy="2714625"/>
            <a:chOff x="0" y="0"/>
            <a:chExt cx="5143500" cy="36195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892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total instances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73125" y="5476875"/>
            <a:ext cx="3857625" cy="2714625"/>
            <a:chOff x="0" y="0"/>
            <a:chExt cx="5143500" cy="36195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1435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514350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51435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55600" y="561975"/>
              <a:ext cx="4318000" cy="710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45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≈0.114 mW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55600" y="1885950"/>
              <a:ext cx="4318000" cy="334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post-route power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4667250" y="8915400"/>
            <a:ext cx="8953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2100" b="true">
                <a:solidFill>
                  <a:srgbClr val="54D68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Timing MET · Routing CLEAN · GDSII generated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FPGA Implementation &amp; Live Demo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239500" y="1762125"/>
            <a:ext cx="6191250" cy="4648200"/>
          </a:xfrm>
          <a:custGeom>
            <a:avLst/>
            <a:gdLst/>
            <a:ahLst/>
            <a:cxnLst/>
            <a:rect r="r" b="b" t="t" l="l"/>
            <a:pathLst>
              <a:path h="4648200" w="6191250">
                <a:moveTo>
                  <a:pt x="0" y="0"/>
                </a:moveTo>
                <a:lnTo>
                  <a:pt x="6191250" y="0"/>
                </a:lnTo>
                <a:lnTo>
                  <a:pt x="6191250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" t="0" r="-51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762000" y="1952625"/>
            <a:ext cx="1571625" cy="742950"/>
            <a:chOff x="0" y="0"/>
            <a:chExt cx="2095500" cy="990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55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95500">
                  <a:moveTo>
                    <a:pt x="92364" y="0"/>
                  </a:moveTo>
                  <a:lnTo>
                    <a:pt x="2003136" y="0"/>
                  </a:lnTo>
                  <a:cubicBezTo>
                    <a:pt x="2027633" y="0"/>
                    <a:pt x="2051126" y="9731"/>
                    <a:pt x="2068447" y="27053"/>
                  </a:cubicBezTo>
                  <a:cubicBezTo>
                    <a:pt x="2085769" y="44374"/>
                    <a:pt x="2095500" y="67867"/>
                    <a:pt x="2095500" y="92364"/>
                  </a:cubicBezTo>
                  <a:lnTo>
                    <a:pt x="2095500" y="898236"/>
                  </a:lnTo>
                  <a:cubicBezTo>
                    <a:pt x="2095500" y="922733"/>
                    <a:pt x="2085769" y="946226"/>
                    <a:pt x="2068447" y="963547"/>
                  </a:cubicBezTo>
                  <a:cubicBezTo>
                    <a:pt x="2051126" y="980869"/>
                    <a:pt x="2027633" y="990600"/>
                    <a:pt x="2003136" y="990600"/>
                  </a:cubicBezTo>
                  <a:lnTo>
                    <a:pt x="92364" y="990600"/>
                  </a:lnTo>
                  <a:cubicBezTo>
                    <a:pt x="67867" y="990600"/>
                    <a:pt x="44374" y="980869"/>
                    <a:pt x="27053" y="963547"/>
                  </a:cubicBezTo>
                  <a:cubicBezTo>
                    <a:pt x="9731" y="946226"/>
                    <a:pt x="0" y="922733"/>
                    <a:pt x="0" y="898236"/>
                  </a:cubicBezTo>
                  <a:lnTo>
                    <a:pt x="0" y="92364"/>
                  </a:lnTo>
                  <a:cubicBezTo>
                    <a:pt x="0" y="67867"/>
                    <a:pt x="9731" y="44374"/>
                    <a:pt x="27053" y="27053"/>
                  </a:cubicBezTo>
                  <a:cubicBezTo>
                    <a:pt x="44374" y="9731"/>
                    <a:pt x="67867" y="0"/>
                    <a:pt x="9236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95500" cy="100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VERILOG RTL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333625" y="2324100"/>
            <a:ext cx="3810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2714625" y="1952625"/>
            <a:ext cx="1571625" cy="742950"/>
            <a:chOff x="0" y="0"/>
            <a:chExt cx="2095500" cy="990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55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95500">
                  <a:moveTo>
                    <a:pt x="92364" y="0"/>
                  </a:moveTo>
                  <a:lnTo>
                    <a:pt x="2003136" y="0"/>
                  </a:lnTo>
                  <a:cubicBezTo>
                    <a:pt x="2027633" y="0"/>
                    <a:pt x="2051126" y="9731"/>
                    <a:pt x="2068447" y="27053"/>
                  </a:cubicBezTo>
                  <a:cubicBezTo>
                    <a:pt x="2085769" y="44374"/>
                    <a:pt x="2095500" y="67867"/>
                    <a:pt x="2095500" y="92364"/>
                  </a:cubicBezTo>
                  <a:lnTo>
                    <a:pt x="2095500" y="898236"/>
                  </a:lnTo>
                  <a:cubicBezTo>
                    <a:pt x="2095500" y="922733"/>
                    <a:pt x="2085769" y="946226"/>
                    <a:pt x="2068447" y="963547"/>
                  </a:cubicBezTo>
                  <a:cubicBezTo>
                    <a:pt x="2051126" y="980869"/>
                    <a:pt x="2027633" y="990600"/>
                    <a:pt x="2003136" y="990600"/>
                  </a:cubicBezTo>
                  <a:lnTo>
                    <a:pt x="92364" y="990600"/>
                  </a:lnTo>
                  <a:cubicBezTo>
                    <a:pt x="67867" y="990600"/>
                    <a:pt x="44374" y="980869"/>
                    <a:pt x="27053" y="963547"/>
                  </a:cubicBezTo>
                  <a:cubicBezTo>
                    <a:pt x="9731" y="946226"/>
                    <a:pt x="0" y="922733"/>
                    <a:pt x="0" y="898236"/>
                  </a:cubicBezTo>
                  <a:lnTo>
                    <a:pt x="0" y="92364"/>
                  </a:lnTo>
                  <a:cubicBezTo>
                    <a:pt x="0" y="67867"/>
                    <a:pt x="9731" y="44374"/>
                    <a:pt x="27053" y="27053"/>
                  </a:cubicBezTo>
                  <a:cubicBezTo>
                    <a:pt x="44374" y="9731"/>
                    <a:pt x="67867" y="0"/>
                    <a:pt x="9236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095500" cy="100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YOSYS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286250" y="2324100"/>
            <a:ext cx="3810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4667250" y="1952625"/>
            <a:ext cx="1571625" cy="742950"/>
            <a:chOff x="0" y="0"/>
            <a:chExt cx="2095500" cy="990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55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95500">
                  <a:moveTo>
                    <a:pt x="92364" y="0"/>
                  </a:moveTo>
                  <a:lnTo>
                    <a:pt x="2003136" y="0"/>
                  </a:lnTo>
                  <a:cubicBezTo>
                    <a:pt x="2027633" y="0"/>
                    <a:pt x="2051126" y="9731"/>
                    <a:pt x="2068447" y="27053"/>
                  </a:cubicBezTo>
                  <a:cubicBezTo>
                    <a:pt x="2085769" y="44374"/>
                    <a:pt x="2095500" y="67867"/>
                    <a:pt x="2095500" y="92364"/>
                  </a:cubicBezTo>
                  <a:lnTo>
                    <a:pt x="2095500" y="898236"/>
                  </a:lnTo>
                  <a:cubicBezTo>
                    <a:pt x="2095500" y="922733"/>
                    <a:pt x="2085769" y="946226"/>
                    <a:pt x="2068447" y="963547"/>
                  </a:cubicBezTo>
                  <a:cubicBezTo>
                    <a:pt x="2051126" y="980869"/>
                    <a:pt x="2027633" y="990600"/>
                    <a:pt x="2003136" y="990600"/>
                  </a:cubicBezTo>
                  <a:lnTo>
                    <a:pt x="92364" y="990600"/>
                  </a:lnTo>
                  <a:cubicBezTo>
                    <a:pt x="67867" y="990600"/>
                    <a:pt x="44374" y="980869"/>
                    <a:pt x="27053" y="963547"/>
                  </a:cubicBezTo>
                  <a:cubicBezTo>
                    <a:pt x="9731" y="946226"/>
                    <a:pt x="0" y="922733"/>
                    <a:pt x="0" y="898236"/>
                  </a:cubicBezTo>
                  <a:lnTo>
                    <a:pt x="0" y="92364"/>
                  </a:lnTo>
                  <a:cubicBezTo>
                    <a:pt x="0" y="67867"/>
                    <a:pt x="9731" y="44374"/>
                    <a:pt x="27053" y="27053"/>
                  </a:cubicBezTo>
                  <a:cubicBezTo>
                    <a:pt x="44374" y="9731"/>
                    <a:pt x="67867" y="0"/>
                    <a:pt x="9236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095500" cy="100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VPR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6238875" y="2324100"/>
            <a:ext cx="3810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6619875" y="1952625"/>
            <a:ext cx="1571625" cy="742950"/>
            <a:chOff x="0" y="0"/>
            <a:chExt cx="2095500" cy="990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55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95500">
                  <a:moveTo>
                    <a:pt x="92364" y="0"/>
                  </a:moveTo>
                  <a:lnTo>
                    <a:pt x="2003136" y="0"/>
                  </a:lnTo>
                  <a:cubicBezTo>
                    <a:pt x="2027633" y="0"/>
                    <a:pt x="2051126" y="9731"/>
                    <a:pt x="2068447" y="27053"/>
                  </a:cubicBezTo>
                  <a:cubicBezTo>
                    <a:pt x="2085769" y="44374"/>
                    <a:pt x="2095500" y="67867"/>
                    <a:pt x="2095500" y="92364"/>
                  </a:cubicBezTo>
                  <a:lnTo>
                    <a:pt x="2095500" y="898236"/>
                  </a:lnTo>
                  <a:cubicBezTo>
                    <a:pt x="2095500" y="922733"/>
                    <a:pt x="2085769" y="946226"/>
                    <a:pt x="2068447" y="963547"/>
                  </a:cubicBezTo>
                  <a:cubicBezTo>
                    <a:pt x="2051126" y="980869"/>
                    <a:pt x="2027633" y="990600"/>
                    <a:pt x="2003136" y="990600"/>
                  </a:cubicBezTo>
                  <a:lnTo>
                    <a:pt x="92364" y="990600"/>
                  </a:lnTo>
                  <a:cubicBezTo>
                    <a:pt x="67867" y="990600"/>
                    <a:pt x="44374" y="980869"/>
                    <a:pt x="27053" y="963547"/>
                  </a:cubicBezTo>
                  <a:cubicBezTo>
                    <a:pt x="9731" y="946226"/>
                    <a:pt x="0" y="922733"/>
                    <a:pt x="0" y="898236"/>
                  </a:cubicBezTo>
                  <a:lnTo>
                    <a:pt x="0" y="92364"/>
                  </a:lnTo>
                  <a:cubicBezTo>
                    <a:pt x="0" y="67867"/>
                    <a:pt x="9731" y="44374"/>
                    <a:pt x="27053" y="27053"/>
                  </a:cubicBezTo>
                  <a:cubicBezTo>
                    <a:pt x="44374" y="9731"/>
                    <a:pt x="67867" y="0"/>
                    <a:pt x="92364" y="0"/>
                  </a:cubicBezTo>
                  <a:close/>
                </a:path>
              </a:pathLst>
            </a:custGeom>
            <a:solidFill>
              <a:srgbClr val="122842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95500" cy="100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FASM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191500" y="2324100"/>
            <a:ext cx="381000" cy="0"/>
          </a:xfrm>
          <a:prstGeom prst="line">
            <a:avLst/>
          </a:prstGeom>
          <a:ln cap="rnd" w="28575">
            <a:solidFill>
              <a:srgbClr val="36A3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8572500" y="1952625"/>
            <a:ext cx="1571625" cy="742950"/>
            <a:chOff x="0" y="0"/>
            <a:chExt cx="2095500" cy="990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95500" cy="990600"/>
            </a:xfrm>
            <a:custGeom>
              <a:avLst/>
              <a:gdLst/>
              <a:ahLst/>
              <a:cxnLst/>
              <a:rect r="r" b="b" t="t" l="l"/>
              <a:pathLst>
                <a:path h="990600" w="2095500">
                  <a:moveTo>
                    <a:pt x="92364" y="0"/>
                  </a:moveTo>
                  <a:lnTo>
                    <a:pt x="2003136" y="0"/>
                  </a:lnTo>
                  <a:cubicBezTo>
                    <a:pt x="2027633" y="0"/>
                    <a:pt x="2051126" y="9731"/>
                    <a:pt x="2068447" y="27053"/>
                  </a:cubicBezTo>
                  <a:cubicBezTo>
                    <a:pt x="2085769" y="44374"/>
                    <a:pt x="2095500" y="67867"/>
                    <a:pt x="2095500" y="92364"/>
                  </a:cubicBezTo>
                  <a:lnTo>
                    <a:pt x="2095500" y="898236"/>
                  </a:lnTo>
                  <a:cubicBezTo>
                    <a:pt x="2095500" y="922733"/>
                    <a:pt x="2085769" y="946226"/>
                    <a:pt x="2068447" y="963547"/>
                  </a:cubicBezTo>
                  <a:cubicBezTo>
                    <a:pt x="2051126" y="980869"/>
                    <a:pt x="2027633" y="990600"/>
                    <a:pt x="2003136" y="990600"/>
                  </a:cubicBezTo>
                  <a:lnTo>
                    <a:pt x="92364" y="990600"/>
                  </a:lnTo>
                  <a:cubicBezTo>
                    <a:pt x="67867" y="990600"/>
                    <a:pt x="44374" y="980869"/>
                    <a:pt x="27053" y="963547"/>
                  </a:cubicBezTo>
                  <a:cubicBezTo>
                    <a:pt x="9731" y="946226"/>
                    <a:pt x="0" y="922733"/>
                    <a:pt x="0" y="898236"/>
                  </a:cubicBezTo>
                  <a:lnTo>
                    <a:pt x="0" y="92364"/>
                  </a:lnTo>
                  <a:cubicBezTo>
                    <a:pt x="0" y="67867"/>
                    <a:pt x="9731" y="44374"/>
                    <a:pt x="27053" y="27053"/>
                  </a:cubicBezTo>
                  <a:cubicBezTo>
                    <a:pt x="44374" y="9731"/>
                    <a:pt x="67867" y="0"/>
                    <a:pt x="92364" y="0"/>
                  </a:cubicBezTo>
                  <a:close/>
                </a:path>
              </a:pathLst>
            </a:custGeom>
            <a:solidFill>
              <a:srgbClr val="36A3FF"/>
            </a:solidFill>
            <a:ln w="19050" cap="sq">
              <a:solidFill>
                <a:srgbClr val="36A3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095500" cy="100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  <a:r>
                <a:rPr lang="en-US" sz="1125" b="true">
                  <a:solidFill>
                    <a:srgbClr val="F4F8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BITSTREAM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04875" y="4086225"/>
            <a:ext cx="8858250" cy="21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425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CLK100MHZ · E3  —  100 MHz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4875" y="4962525"/>
            <a:ext cx="8858250" cy="21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425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btn_reset · D9  —  active high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4875" y="5838825"/>
            <a:ext cx="8858250" cy="21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425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uart_tx · A9  —  USB-UART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4875" y="6715125"/>
            <a:ext cx="8858250" cy="21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425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led[3:0]  —  GPIO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4875" y="7591425"/>
            <a:ext cx="8858250" cy="21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425">
                <a:solidFill>
                  <a:srgbClr val="55D6D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led[4] / led[5]  —  mailbox flags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239500" y="6667500"/>
            <a:ext cx="6191250" cy="937260"/>
            <a:chOff x="0" y="0"/>
            <a:chExt cx="8255000" cy="124968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38100"/>
              <a:ext cx="8255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21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Arty A7-100T · xc7a100t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860425"/>
              <a:ext cx="8255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1800">
                  <a:solidFill>
                    <a:srgbClr val="9EB2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Dual programs · shared memory · mailbox · UART · LEDs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00" y="400050"/>
            <a:ext cx="16611600" cy="771525"/>
            <a:chOff x="0" y="0"/>
            <a:chExt cx="22148800" cy="1028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1143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295400" y="-19050"/>
              <a:ext cx="19050000" cy="739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Final Results &amp; Conclusion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016000"/>
              <a:ext cx="22148800" cy="0"/>
            </a:xfrm>
            <a:prstGeom prst="line">
              <a:avLst/>
            </a:prstGeom>
            <a:ln cap="flat" w="25400">
              <a:solidFill>
                <a:srgbClr val="29435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857375"/>
            <a:ext cx="5143500" cy="2143125"/>
            <a:chOff x="0" y="0"/>
            <a:chExt cx="6858000" cy="2857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858000" cy="2857500"/>
              <a:chOff x="0" y="0"/>
              <a:chExt cx="6858000" cy="2857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858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858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371475"/>
              <a:ext cx="5969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RTL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1241425"/>
              <a:ext cx="5969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Dual-core RV32I SoC complete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29375" y="1857375"/>
            <a:ext cx="5143500" cy="2143125"/>
            <a:chOff x="0" y="0"/>
            <a:chExt cx="6858000" cy="2857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858000" cy="2857500"/>
              <a:chOff x="0" y="0"/>
              <a:chExt cx="6858000" cy="2857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858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858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5600" y="371475"/>
              <a:ext cx="5969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INTERCONNECT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241425"/>
              <a:ext cx="5969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Routing + round-robin arbitration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01500" y="1857375"/>
            <a:ext cx="5143500" cy="2143125"/>
            <a:chOff x="0" y="0"/>
            <a:chExt cx="6858000" cy="2857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858000" cy="2857500"/>
              <a:chOff x="0" y="0"/>
              <a:chExt cx="6858000" cy="2857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858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0D1C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858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5600" y="371475"/>
              <a:ext cx="5969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COMMUNICATION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1241425"/>
              <a:ext cx="5969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Shared SRAM + mailbox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7250" y="4572000"/>
            <a:ext cx="5143500" cy="2143125"/>
            <a:chOff x="0" y="0"/>
            <a:chExt cx="6858000" cy="2857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858000" cy="2857500"/>
              <a:chOff x="0" y="0"/>
              <a:chExt cx="6858000" cy="2857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858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858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5600" y="371475"/>
              <a:ext cx="5969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PERIPHERALS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5600" y="1241425"/>
              <a:ext cx="5969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UART + GPIO functional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29375" y="4572000"/>
            <a:ext cx="5143500" cy="2143125"/>
            <a:chOff x="0" y="0"/>
            <a:chExt cx="6858000" cy="2857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858000" cy="2857500"/>
              <a:chOff x="0" y="0"/>
              <a:chExt cx="6858000" cy="2857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858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858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5600" y="371475"/>
              <a:ext cx="5969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VERIFICATION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55600" y="1241425"/>
              <a:ext cx="5969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28/28 · 100% · 0 SVA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01500" y="4572000"/>
            <a:ext cx="5143500" cy="2143125"/>
            <a:chOff x="0" y="0"/>
            <a:chExt cx="6858000" cy="28575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858000" cy="2857500"/>
              <a:chOff x="0" y="0"/>
              <a:chExt cx="6858000" cy="2857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858000" cy="2857500"/>
              </a:xfrm>
              <a:custGeom>
                <a:avLst/>
                <a:gdLst/>
                <a:ahLst/>
                <a:cxnLst/>
                <a:rect r="r" b="b" t="t" l="l"/>
                <a:pathLst>
                  <a:path h="2857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857500"/>
                    </a:lnTo>
                    <a:lnTo>
                      <a:pt x="0" y="2857500"/>
                    </a:lnTo>
                    <a:close/>
                  </a:path>
                </a:pathLst>
              </a:custGeom>
              <a:solidFill>
                <a:srgbClr val="1228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858000" cy="28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5600" y="371475"/>
              <a:ext cx="5969000" cy="338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36A3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IMPLEMENTATION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5600" y="1241425"/>
              <a:ext cx="5969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4F8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Sky130A GDSII + Arty A7 demo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429375" y="7558755"/>
            <a:ext cx="6667500" cy="92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true">
                <a:solidFill>
                  <a:srgbClr val="55D6D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DAHVE2rEa48</dc:identifier>
  <dcterms:modified xsi:type="dcterms:W3CDTF">2011-08-01T06:04:30Z</dcterms:modified>
  <cp:revision>1</cp:revision>
  <dc:title>RISC-V SoC Capstone</dc:title>
</cp:coreProperties>
</file>