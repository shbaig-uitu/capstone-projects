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7559675" cy="10691800"/>
  <p:embeddedFontLst>
    <p:embeddedFont>
      <p:font typeface="Plus Jakarta Sans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3a84bc6d_1_29:notes"/>
          <p:cNvSpPr txBox="1"/>
          <p:nvPr>
            <p:ph idx="1" type="body"/>
          </p:nvPr>
        </p:nvSpPr>
        <p:spPr>
          <a:xfrm>
            <a:off x="755968" y="5078605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fb3a84bc6d_1_29:notes"/>
          <p:cNvSpPr/>
          <p:nvPr>
            <p:ph idx="2" type="sldImg"/>
          </p:nvPr>
        </p:nvSpPr>
        <p:spPr>
          <a:xfrm>
            <a:off x="1260194" y="80188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3a84bc6d_1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b3a84bc6d_1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b3a84bc6d_1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b3a84bc6d_1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3a84bc6d_1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3a84bc6d_1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b411ba22e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b411ba22e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3a84bc6d_1_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b3a84bc6d_1_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48975" y="837273"/>
            <a:ext cx="117159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RISC-V SoC with 4×4 Systolic Array Accelerator</a:t>
            </a:r>
            <a:endParaRPr b="1" sz="5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571625" y="3786187"/>
            <a:ext cx="9048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Members:</a:t>
            </a:r>
            <a:br>
              <a:rPr b="1" lang="en-US" sz="2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lang="en-US" sz="2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Muhammad Romaan</a:t>
            </a:r>
            <a:br>
              <a:rPr b="1" lang="en-US" sz="2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lang="en-US" sz="2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Furqan Ahmad</a:t>
            </a:r>
            <a:br>
              <a:rPr b="1" lang="en-US" sz="2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lang="en-US" sz="2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Laraib Khan</a:t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407275" y="320050"/>
            <a:ext cx="80559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Overview and Main Goal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07275" y="916200"/>
            <a:ext cx="10926600" cy="5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Main Processor &amp; Architecture:</a:t>
            </a:r>
            <a:r>
              <a:rPr lang="en-US" sz="2400">
                <a:solidFill>
                  <a:schemeClr val="dk1"/>
                </a:solidFill>
              </a:rPr>
              <a:t> The main processor is a 32-bit RISC-V CPU that handles instructions one at a time.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Memory &amp; Interconnect:</a:t>
            </a:r>
            <a:r>
              <a:rPr lang="en-US" sz="2400">
                <a:solidFill>
                  <a:schemeClr val="dk1"/>
                </a:solidFill>
              </a:rPr>
              <a:t> It has an instruction memory to store commands (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imem.v</a:t>
            </a:r>
            <a:r>
              <a:rPr lang="en-US" sz="2400">
                <a:solidFill>
                  <a:schemeClr val="dk1"/>
                </a:solidFill>
              </a:rPr>
              <a:t>) and a data memory to store working information (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dmem.v</a:t>
            </a:r>
            <a:r>
              <a:rPr lang="en-US" sz="2400">
                <a:solidFill>
                  <a:schemeClr val="dk1"/>
                </a:solidFill>
              </a:rPr>
              <a:t>), with a special bridge connecting everything together using a standard communication pathway called AXI4-Lite.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Math Accelerator:</a:t>
            </a:r>
            <a:r>
              <a:rPr lang="en-US" sz="2400">
                <a:solidFill>
                  <a:schemeClr val="dk1"/>
                </a:solidFill>
              </a:rPr>
              <a:t> The math accelerator is a 4x4 grid of processing units that handle heavy data tasks.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FPGA Implementation:</a:t>
            </a:r>
            <a:r>
              <a:rPr lang="en-US" sz="2400">
                <a:solidFill>
                  <a:schemeClr val="dk1"/>
                </a:solidFill>
              </a:rPr>
              <a:t> The whole system is built and tested on a physical circuit board called the Digilent Arty A7-100T FPGA board.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ASIC Physical Design:</a:t>
            </a:r>
            <a:r>
              <a:rPr lang="en-US" sz="2400">
                <a:solidFill>
                  <a:schemeClr val="dk1"/>
                </a:solidFill>
              </a:rPr>
              <a:t> The design is also implemented as a custom ASIC layout using the LibreLane toolchain.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Verification:</a:t>
            </a:r>
            <a:r>
              <a:rPr lang="en-US" sz="2400">
                <a:solidFill>
                  <a:schemeClr val="dk1"/>
                </a:solidFill>
              </a:rPr>
              <a:t> The hardware is rigorously verified using a Universal Verification Methodology (UVM) testbench suite.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640081" y="320050"/>
            <a:ext cx="79419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Inside the RISC-V Main Processor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40080" y="1051560"/>
            <a:ext cx="10926720" cy="25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processor uses the standard RV32I instruction set and is built from a few key parts: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Unit (control.v): Reads the instructions and tells the rest of the processor what to do.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ALU (alu.v): Does the basic math and logic operations.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 File (regfile.v): Provides 32 registers to hold temporary data while programs run.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 Unit (branch_unit.v): Decides when the program should jump to a different instruction (like when making choices or loops).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Immediate Generator (immgen.v): Extracts and prepares number values hidden inside instructions.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716077" y="320050"/>
            <a:ext cx="91422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4x4 Systolic Array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40075" y="1051541"/>
            <a:ext cx="109266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it is Organized: It is a 4x4 grid of small, connected processing blocks (pe.sv) that all march to the same beat.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it Does: It multiplies two 4x4 matrices together to get a result matrix using numbers that are 8-bit or 16-bit wide.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it Works: It passes data smoothly across rows and columns (called wave-front propagation) so numbers can be reused efficiently.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It can perform 64 multiply-and-add operations all at the same time, finishing the job in just 11 to 15 clock cycles.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Wrapper (accelerator_top.sv): Manages the input data, stores the weights and activation values, and lets the main processor talk to it through memory addresses.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640077" y="320050"/>
            <a:ext cx="94359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Memory Map (How the Processor Talks to Hardware)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640075" y="1051541"/>
            <a:ext cx="10926600" cy="51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processor communicates with different parts of the system by reading and writing to specific memory addresses: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0x0000_0000: Instruction Memory (where program commands live).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0x1000_0000: Status Register and LEDs (for checking if things are working).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0x4000_0000: Accelerator Control Registers (to check if it is done or currently computing).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0x4000_0040: Matrix A Input Buffer.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0x4000_0080: Matrix B Input Buffer.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0x4000_00C0: Result Read-back (where you can read the final calculated answer, such as $C[0][0] = 538$).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733903" y="320050"/>
            <a:ext cx="7721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 and Verification Results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640075" y="1051539"/>
            <a:ext cx="10926600" cy="4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Software Simulation (UVM Testbench Waveform Analysis)</a:t>
            </a:r>
            <a:b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simulation waveform displays the clock (clk), reset (rst), and the communication wires (awaddr, wdata, araddr, rdata) sending data back and forth.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and Data Flow: You can see the start signal go high, which changes the internal states, turns on the computing flag, and eventually triggers the done signal when the math is finished.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Scoreboard Results: Every single piece of data flowing through the matrix arrays matched the expected math results perfectly, ending with zero errors (UVM_ERROR : 0).+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49474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1613" y="-12"/>
            <a:ext cx="78009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5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/>
          <p:nvPr/>
        </p:nvSpPr>
        <p:spPr>
          <a:xfrm>
            <a:off x="715900" y="320050"/>
            <a:ext cx="7743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 FPGA Testing on Board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640080" y="1051560"/>
            <a:ext cx="10926720" cy="21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loaded onto the actual Arty A7-100T board, the system was tested using a serial terminal connection.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output logs showed the TPU successfully computing matrix values and returning PASS statuses: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[TPU] C00=0x0000021A X7=0x0000021A X8=0x0000021A LED=1111 (PASS)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Board Controls: Switch 0 lets you toggle between different live telemetry data (like clock heartbeats and pass/fail status), and Switch 3 acts as a clean master reset.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404601" cy="64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5900" y="0"/>
            <a:ext cx="5411299" cy="642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/>
          <p:cNvPicPr preferRelativeResize="0"/>
          <p:nvPr/>
        </p:nvPicPr>
        <p:blipFill rotWithShape="1">
          <a:blip r:embed="rId3">
            <a:alphaModFix/>
          </a:blip>
          <a:srcRect b="0" l="6940" r="12926" t="18314"/>
          <a:stretch/>
        </p:blipFill>
        <p:spPr>
          <a:xfrm>
            <a:off x="0" y="0"/>
            <a:ext cx="5942551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 rotWithShape="1">
          <a:blip r:embed="rId4">
            <a:alphaModFix/>
          </a:blip>
          <a:srcRect b="0" l="0" r="9780" t="18334"/>
          <a:stretch/>
        </p:blipFill>
        <p:spPr>
          <a:xfrm>
            <a:off x="5942550" y="0"/>
            <a:ext cx="624945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/>
        </p:nvSpPr>
        <p:spPr>
          <a:xfrm>
            <a:off x="640076" y="320050"/>
            <a:ext cx="91185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ASIC Physical Design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>
            <a:off x="640075" y="1051539"/>
            <a:ext cx="109266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Design Layout: Targeted under the name asic_top, set with a physical square die size of 480 um x 480 um and a core working area of 465 um x 465 um.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Utilization and Clock: The core utilization target is set to 35%, running on a 25 ns clock period (aiming for a 40 MHz design layout target).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Power and Routing: Uses metal layer 5 (horizontal) and metal layer 4 (vertical) for power distribution rails and rings (PDN), while enabling congestion allowances and diode insertion rules to keep open-source layout tools from crashing.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713" y="0"/>
            <a:ext cx="7184565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